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别念标题。直接问「闪身步是什么？」，停两秒，再宣布它是今天真实榜第一。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举手 30 秒。目的是让全场亲眼看到信息差存在，然后把痛点收到「还剩几天」这一句上。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三个气泡各念一句就够，重点是右边黑板：分数、时间线、赶不赶，三样东西。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秒。必答三题要念得出口也经得起追问；不做清单主动讲，比被老师问到再解释强。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秒。先讲 2.08 亿是什么口径，再挑「不含今天」这一条细讲，其它一句话带过。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秒，重点页。先讲漏掉老叟戏顽童这个事故，再讲并集怎么修——问题驱动方法比直接摆规则有说服力。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秒。公式不用逐字念，讲两件事：为什么取对数，为什么增长敢给 1/4。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秒。指着曲线说：闪身步和老叟戏顽童分数接近但形状相反，所以阶段判定不能只看分数。再补一句 LLM 只能写文案。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秒，最能证明我真做过的一页。每行按症状 → 化验单 → 病因 → 处方讲，黄豆那条可以多说一句。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秒。先承认这是我自己提的直觉，再拿数据打它：r=+0.40 只解释 16% 方差，两个反例足够判门槛不成立。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秒。指出前三名热度接近但赶梗结论不同，说明阶段不是热度的复读。顺带交代并集带来的覆盖提升。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秒。强调验证的目标不是跑通，是错了会被发现：测试数、演示数据隔离、能抽查到每条视频。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秒收尾。主动交代四个不准，再给时间表。最后一句留在屏幕上，等老师提问。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3.jp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image" Target="../media/image10.jp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3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023360"/>
          </a:xfrm>
          <a:prstGeom prst="rect">
            <a:avLst/>
          </a:prstGeom>
          <a:solidFill>
            <a:srgbClr val="F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180000">
            <a:off x="7635240" y="457200"/>
            <a:ext cx="1417320" cy="140451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闪身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7699248" y="521208"/>
            <a:ext cx="1289304" cy="956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21180000">
            <a:off x="7635240" y="149595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闪身步</a:t>
            </a:r>
          </a:p>
        </p:txBody>
      </p:sp>
      <p:sp>
        <p:nvSpPr>
          <p:cNvPr id="7" name="Rounded Rectangle 6"/>
          <p:cNvSpPr/>
          <p:nvPr/>
        </p:nvSpPr>
        <p:spPr>
          <a:xfrm rot="300000">
            <a:off x="9006840" y="777240"/>
            <a:ext cx="1417320" cy="140451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耍起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00000">
            <a:off x="9070848" y="841247"/>
            <a:ext cx="1289304" cy="9564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300000">
            <a:off x="9006840" y="181599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耍起</a:t>
            </a:r>
          </a:p>
        </p:txBody>
      </p:sp>
      <p:sp>
        <p:nvSpPr>
          <p:cNvPr id="10" name="Rounded Rectangle 9"/>
          <p:cNvSpPr/>
          <p:nvPr/>
        </p:nvSpPr>
        <p:spPr>
          <a:xfrm rot="21420000">
            <a:off x="10378440" y="457200"/>
            <a:ext cx="1417320" cy="140451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雨中霸王龙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10442448" y="521208"/>
            <a:ext cx="1289304" cy="95646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21420000">
            <a:off x="10378440" y="149595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雨中霸王龙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22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B3A5E"/>
                </a:solidFill>
                <a:latin typeface="Microsoft YaHei"/>
              </a:rPr>
              <a:t>数据科学课程 · 开题答辩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225296"/>
            <a:ext cx="7680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6600" b="1">
                <a:solidFill>
                  <a:srgbClr val="14161F"/>
                </a:solidFill>
                <a:latin typeface="KaiTi"/>
              </a:rPr>
              <a:t>今天，赶什么梗？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8716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000" b="1">
                <a:solidFill>
                  <a:srgbClr val="3C5989"/>
                </a:solidFill>
                <a:latin typeface="Microsoft YaHei"/>
              </a:rPr>
              <a:t>B 站网络梗热度与生命周期分析系统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27248"/>
            <a:ext cx="2103120" cy="9144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315968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250" b="0">
                <a:solidFill>
                  <a:srgbClr val="6B7C9C"/>
                </a:solidFill>
                <a:latin typeface="Microsoft YaHei"/>
              </a:rPr>
              <a:t>开场先问一句：</a:t>
            </a:r>
          </a:p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500" b="1">
                <a:solidFill>
                  <a:srgbClr val="14161F"/>
                </a:solidFill>
                <a:latin typeface="Microsoft YaHei"/>
              </a:rPr>
              <a:t>「闪身步」9 月 21 日才有人解说，9 月 26 日热度 81 分、榜上第一。</a:t>
            </a:r>
          </a:p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300" b="0">
                <a:solidFill>
                  <a:srgbClr val="3C5989"/>
                </a:solidFill>
                <a:latin typeface="Microsoft YaHei"/>
              </a:rPr>
              <a:t>你现在才听说它，算早还是算晚？我想把这件事算成一个数。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315968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448056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300" b="1">
                <a:solidFill>
                  <a:srgbClr val="14161F"/>
                </a:solidFill>
                <a:latin typeface="Microsoft YaHei"/>
              </a:rPr>
              <a:t>汇报人  ____________</a:t>
            </a:r>
          </a:p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学号  ____________</a:t>
            </a:r>
          </a:p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指导教师  ____________</a:t>
            </a:r>
          </a:p>
          <a:p>
            <a:pPr algn="l">
              <a:lnSpc>
                <a:spcPct val="134000"/>
              </a:lnSpc>
              <a:spcAft>
                <a:spcPts val="200"/>
              </a:spcAft>
            </a:pPr>
            <a:r>
              <a:rPr sz="1100" b="0">
                <a:solidFill>
                  <a:srgbClr val="A8B2C6"/>
                </a:solidFill>
                <a:latin typeface="Microsoft YaHei"/>
              </a:rPr>
              <a:t>数据截至 2026-09-27，真实抓取</a:t>
            </a:r>
          </a:p>
        </p:txBody>
      </p:sp>
      <p:sp>
        <p:nvSpPr>
          <p:cNvPr id="20" name="Rectangle 19"/>
          <p:cNvSpPr/>
          <p:nvPr/>
        </p:nvSpPr>
        <p:spPr>
          <a:xfrm rot="21120000">
            <a:off x="7644383" y="4206240"/>
            <a:ext cx="731520" cy="201168"/>
          </a:xfrm>
          <a:prstGeom prst="rect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先测一下：这五个梗，认识三个以上的举手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6B7C9C"/>
                </a:solidFill>
                <a:latin typeface="Microsoft YaHei"/>
              </a:rPr>
              <a:t>不是我编的题——它们就是此刻 B 站真实热度榜的前五名</a:t>
            </a:r>
          </a:p>
        </p:txBody>
      </p:sp>
      <p:sp>
        <p:nvSpPr>
          <p:cNvPr id="5" name="Rounded Rectangle 4"/>
          <p:cNvSpPr/>
          <p:nvPr/>
        </p:nvSpPr>
        <p:spPr>
          <a:xfrm rot="21360000">
            <a:off x="658368" y="1828800"/>
            <a:ext cx="1975104" cy="1806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闪身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722376" y="1892807"/>
            <a:ext cx="1847088" cy="135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360000">
            <a:off x="658368" y="326916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闪身步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3675887"/>
            <a:ext cx="1371600" cy="274320"/>
          </a:xfrm>
          <a:prstGeom prst="rect">
            <a:avLst/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6941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 81.0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041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爆发期 · 梗百科认证</a:t>
            </a:r>
          </a:p>
        </p:txBody>
      </p:sp>
      <p:sp>
        <p:nvSpPr>
          <p:cNvPr id="11" name="Rounded Rectangle 10"/>
          <p:cNvSpPr/>
          <p:nvPr/>
        </p:nvSpPr>
        <p:spPr>
          <a:xfrm rot="180000">
            <a:off x="2889504" y="1828800"/>
            <a:ext cx="1975104" cy="1806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耍起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0000">
            <a:off x="2953512" y="1892807"/>
            <a:ext cx="1847088" cy="13580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 rot="180000">
            <a:off x="2889504" y="326916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耍起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3675887"/>
            <a:ext cx="1371600" cy="27432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36941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 69.5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041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上升期 · 梗指南认证</a:t>
            </a:r>
          </a:p>
        </p:txBody>
      </p:sp>
      <p:sp>
        <p:nvSpPr>
          <p:cNvPr id="17" name="Rounded Rectangle 16"/>
          <p:cNvSpPr/>
          <p:nvPr/>
        </p:nvSpPr>
        <p:spPr>
          <a:xfrm rot="21480000">
            <a:off x="5120640" y="1828800"/>
            <a:ext cx="1975104" cy="1806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野生狗奶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5184648" y="1892807"/>
            <a:ext cx="1847088" cy="13580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 rot="21480000">
            <a:off x="5120640" y="326916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野生狗奶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66944" y="3675887"/>
            <a:ext cx="1371600" cy="27432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36941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 69.0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4041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上升期 · 双 UP 认证</a:t>
            </a:r>
          </a:p>
        </p:txBody>
      </p:sp>
      <p:sp>
        <p:nvSpPr>
          <p:cNvPr id="23" name="Rounded Rectangle 22"/>
          <p:cNvSpPr/>
          <p:nvPr/>
        </p:nvSpPr>
        <p:spPr>
          <a:xfrm rot="240000">
            <a:off x="7351776" y="1828800"/>
            <a:ext cx="1975104" cy="1806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牛来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7415784" y="1892807"/>
            <a:ext cx="1847088" cy="13580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 rot="240000">
            <a:off x="7351776" y="326916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牛来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3675887"/>
            <a:ext cx="1371600" cy="27432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2" y="36941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 56.7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4041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上升期 · 双 UP 认证</a:t>
            </a:r>
          </a:p>
        </p:txBody>
      </p:sp>
      <p:sp>
        <p:nvSpPr>
          <p:cNvPr id="29" name="Rounded Rectangle 28"/>
          <p:cNvSpPr/>
          <p:nvPr/>
        </p:nvSpPr>
        <p:spPr>
          <a:xfrm rot="21420000">
            <a:off x="9582912" y="1828800"/>
            <a:ext cx="1975104" cy="180612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雨中霸王龙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9646920" y="1892807"/>
            <a:ext cx="1847088" cy="135806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 rot="21420000">
            <a:off x="9582912" y="326916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雨中霸王龙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9216" y="3675887"/>
            <a:ext cx="1371600" cy="27432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8" y="36941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 53.6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40416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上升期 · 梗指南认证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754880"/>
            <a:ext cx="10881360" cy="1207008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4956048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450" b="1">
                <a:solidFill>
                  <a:srgbClr val="14161F"/>
                </a:solidFill>
                <a:latin typeface="Microsoft YaHei"/>
              </a:rPr>
              <a:t>认不全太正常了，梗的活跃窗口一般就两三周。</a:t>
            </a:r>
          </a:p>
          <a:p>
            <a:pPr algn="l">
              <a:lnSpc>
                <a:spcPct val="134000"/>
              </a:lnSpc>
              <a:spcAft>
                <a:spcPts val="400"/>
              </a:spcAft>
            </a:pPr>
            <a:r>
              <a:rPr sz="1300" b="0">
                <a:solidFill>
                  <a:srgbClr val="3C5989"/>
                </a:solidFill>
                <a:latin typeface="Microsoft YaHei"/>
              </a:rPr>
              <a:t>难受的地方不在这：你听说了、点开创作中心、脚本写完发出去，它已经不火了。热搜榜只会告诉你谁在前面，不会告诉你它还剩几天——这就是我要做的东西。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问来问去都是同一句话：现在做，还来得及吗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6492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96112" y="2761488"/>
            <a:ext cx="27432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934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D8AFE"/>
                </a:solidFill>
                <a:latin typeface="Microsoft YaHei"/>
              </a:rPr>
              <a:t>一个 3 万粉的 UP 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161F"/>
                </a:solidFill>
                <a:latin typeface="KaiTi"/>
              </a:rPr>
              <a:t>「这个梗我上周就刷到了，现在拍是不是凉了？」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他有手感，但没有刻度。同一个梗他每次判断都不一样。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62656"/>
            <a:ext cx="6492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10800000">
            <a:off x="896112" y="4242816"/>
            <a:ext cx="27432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B97B0A"/>
                </a:solidFill>
                <a:latin typeface="Microsoft YaHei"/>
              </a:rPr>
              <a:t>品牌社媒运营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161F"/>
                </a:solidFill>
                <a:latin typeface="KaiTi"/>
              </a:rPr>
              <a:t>「热搜上这个词，我们今晚要不要跟？」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跟的是词不是梗：词还在榜上，梗可能三天前就过气了。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43984"/>
            <a:ext cx="649224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896112" y="5724144"/>
            <a:ext cx="27432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我室友（也是目标用户）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4161F"/>
                </a:solidFill>
                <a:latin typeface="KaiTi"/>
              </a:rPr>
              <a:t>「为什么我每次知道一个梗，它都已经不好玩了？」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0096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因为他拿到的永远是排名，不是时间。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1504" y="1481328"/>
            <a:ext cx="4078224" cy="4261104"/>
          </a:xfrm>
          <a:prstGeom prst="roundRect">
            <a:avLst>
              <a:gd name="adj" fmla="val 6000"/>
            </a:avLst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35824" y="170078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FC94B"/>
                </a:solidFill>
                <a:latin typeface="Microsoft YaHei"/>
              </a:rPr>
              <a:t>所以我要给出的是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2139696"/>
            <a:ext cx="35661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一个能比的分数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C3CEE3"/>
                </a:solidFill>
                <a:latin typeface="Microsoft YaHei"/>
              </a:rPr>
              <a:t>0-100，跨梗可比，一条爆款吃不掉全榜。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800" b="0">
                <a:solidFill>
                  <a:srgbClr val="14161F"/>
                </a:solidFill>
                <a:latin typeface="Microsoft YaHei"/>
              </a:rPr>
              <a:t/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一条有形状的时间线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C3CEE3"/>
                </a:solidFill>
                <a:latin typeface="Microsoft YaHei"/>
              </a:rPr>
              <a:t>萌芽 / 上升 / 爆发 / 平稳 / 退潮 / 过气，规则判，不靠感觉。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800" b="0">
                <a:solidFill>
                  <a:srgbClr val="14161F"/>
                </a:solidFill>
                <a:latin typeface="Microsoft YaHei"/>
              </a:rPr>
              <a:t/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一个明确的赶不赶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C3CEE3"/>
                </a:solidFill>
                <a:latin typeface="Microsoft YaHei"/>
              </a:rPr>
              <a:t>还来得及 / 慎赶 / 你来晚了，附置信度和理由。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开题总得说清楚：我答哪三题，不答哪三题</a:t>
            </a:r>
          </a:p>
        </p:txBody>
      </p:sp>
      <p:sp>
        <p:nvSpPr>
          <p:cNvPr id="4" name="Rounded Rectangle 3"/>
          <p:cNvSpPr/>
          <p:nvPr/>
        </p:nvSpPr>
        <p:spPr>
          <a:xfrm rot="21528000">
            <a:off x="658368" y="1481328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" y="1627632"/>
            <a:ext cx="786384" cy="2743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655064"/>
            <a:ext cx="786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必答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2224" y="16093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4161F"/>
                </a:solidFill>
                <a:latin typeface="Microsoft YaHei"/>
              </a:rPr>
              <a:t>一个梗现在有多火？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8483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五因子加权的热度指数，绝对量先做对数区间归一。</a:t>
            </a:r>
          </a:p>
        </p:txBody>
      </p:sp>
      <p:sp>
        <p:nvSpPr>
          <p:cNvPr id="9" name="Rounded Rectangle 8"/>
          <p:cNvSpPr/>
          <p:nvPr/>
        </p:nvSpPr>
        <p:spPr>
          <a:xfrm rot="48000">
            <a:off x="658368" y="2852928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999232"/>
            <a:ext cx="786384" cy="2743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026664"/>
            <a:ext cx="786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必答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4" y="29809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4161F"/>
                </a:solidFill>
                <a:latin typeface="Microsoft YaHei"/>
              </a:rPr>
              <a:t>它走到哪一段了？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45643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增长率、距峰值差、连续下滑天数、活跃度 → 规则引擎判六个阶段。</a:t>
            </a:r>
          </a:p>
        </p:txBody>
      </p:sp>
      <p:sp>
        <p:nvSpPr>
          <p:cNvPr id="14" name="Rounded Rectangle 13"/>
          <p:cNvSpPr/>
          <p:nvPr/>
        </p:nvSpPr>
        <p:spPr>
          <a:xfrm rot="21564000">
            <a:off x="658368" y="4224528"/>
            <a:ext cx="6309360" cy="118872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370832"/>
            <a:ext cx="786384" cy="2743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398264"/>
            <a:ext cx="7863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必答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435254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600" b="1">
                <a:solidFill>
                  <a:srgbClr val="14161F"/>
                </a:solidFill>
                <a:latin typeface="Microsoft YaHei"/>
              </a:rPr>
              <a:t>现在赶还来得及吗？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828032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前两问的输出交给判定规则，给三态 + 置信度 + 一句理由。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481328"/>
            <a:ext cx="4315968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16459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这三件我不做（做了必被问）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9792" y="2176272"/>
            <a:ext cx="237744" cy="237744"/>
          </a:xfrm>
          <a:prstGeom prst="rect">
            <a:avLst/>
          </a:prstGeom>
          <a:noFill/>
          <a:ln w="20320">
            <a:solidFill>
              <a:srgbClr val="F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7525512" y="2276856"/>
            <a:ext cx="146304" cy="457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2139696"/>
            <a:ext cx="3566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不预测未来数值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50545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只说已经发生的数据。任何「下周会爆」都不出现在产品里。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79792" y="3310128"/>
            <a:ext cx="237744" cy="237744"/>
          </a:xfrm>
          <a:prstGeom prst="rect">
            <a:avLst/>
          </a:prstGeom>
          <a:noFill/>
          <a:ln w="20320">
            <a:solidFill>
              <a:srgbClr val="F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7525512" y="3410712"/>
            <a:ext cx="146304" cy="457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3273552"/>
            <a:ext cx="3566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不让大模型改事实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393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LLM 只写文案；它给的状态和算法不一致时以算法为准，越界句子直接丢。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9792" y="4443984"/>
            <a:ext cx="237744" cy="237744"/>
          </a:xfrm>
          <a:prstGeom prst="rect">
            <a:avLst/>
          </a:prstGeom>
          <a:noFill/>
          <a:ln w="20320">
            <a:solidFill>
              <a:srgbClr val="FB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7525512" y="4544568"/>
            <a:ext cx="146304" cy="4572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4407408"/>
            <a:ext cx="3566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不做多平台、不做账号体系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7731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先把 B 站这一把尺子做准，不铺覆盖面。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数据只有一个来源：B 站，逐日抓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2286000"/>
            <a:ext cx="5486400" cy="1097280"/>
          </a:xfrm>
          <a:prstGeom prst="rect">
            <a:avLst/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6B7C9C"/>
                </a:solidFill>
                <a:latin typeface="Microsoft YaHei"/>
              </a:rPr>
              <a:t>这一年攒下来的量级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74980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400" b="1">
                <a:solidFill>
                  <a:srgbClr val="FB3A5E"/>
                </a:solidFill>
                <a:latin typeface="Microsoft YaHei"/>
              </a:rPr>
              <a:t>2.08</a:t>
            </a:r>
            <a:r>
              <a:rPr sz="2600" b="1">
                <a:solidFill>
                  <a:srgbClr val="14161F"/>
                </a:solidFill>
                <a:latin typeface="Microsoft YaHei"/>
              </a:rPr>
              <a:t> 亿次播放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356616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不是全站播放量，是每天头部 20 条相关视频的合计——同一把尺子量所有梗，才叫可比。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4528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3525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D8AFE"/>
                </a:solidFill>
                <a:latin typeface="Microsoft YaHei"/>
              </a:rPr>
              <a:t>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736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4161F"/>
                </a:solidFill>
                <a:latin typeface="Microsoft YaHei"/>
              </a:rPr>
              <a:t>梗库总量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926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C9C"/>
                </a:solidFill>
                <a:latin typeface="Microsoft YaHei"/>
              </a:rPr>
              <a:t>83 个通过准入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4224528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43525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D8AFE"/>
                </a:solidFill>
                <a:latin typeface="Microsoft YaHei"/>
              </a:rPr>
              <a:t>2,010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4736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4161F"/>
                </a:solidFill>
                <a:latin typeface="Microsoft YaHei"/>
              </a:rPr>
              <a:t>梗 × 天 日统计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49926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C9C"/>
                </a:solidFill>
                <a:latin typeface="Microsoft YaHei"/>
              </a:rPr>
              <a:t>447 行真有内容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4224528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43525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D8AFE"/>
                </a:solidFill>
                <a:latin typeface="Microsoft YaHei"/>
              </a:rPr>
              <a:t>1,632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736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4161F"/>
                </a:solidFill>
                <a:latin typeface="Microsoft YaHei"/>
              </a:rPr>
              <a:t>采信视频样本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49926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C9C"/>
                </a:solidFill>
                <a:latin typeface="Microsoft YaHei"/>
              </a:rPr>
              <a:t>过相关性阈值才入库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4224528"/>
            <a:ext cx="170078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35254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0D8AFE"/>
                </a:solidFill>
                <a:latin typeface="Microsoft YaHei"/>
              </a:rPr>
              <a:t>2026-09-27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7365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14161F"/>
                </a:solidFill>
                <a:latin typeface="Microsoft YaHei"/>
              </a:rPr>
              <a:t>统计截至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49926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6B7C9C"/>
                </a:solidFill>
                <a:latin typeface="Microsoft YaHei"/>
              </a:rPr>
              <a:t>刻意不含今天</a:t>
            </a:r>
          </a:p>
        </p:txBody>
      </p:sp>
      <p:sp>
        <p:nvSpPr>
          <p:cNvPr id="24" name="Rounded Rectangle 23"/>
          <p:cNvSpPr/>
          <p:nvPr/>
        </p:nvSpPr>
        <p:spPr>
          <a:xfrm rot="84000">
            <a:off x="8321040" y="1481328"/>
            <a:ext cx="3218688" cy="393192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180000">
            <a:off x="9509760" y="1353312"/>
            <a:ext cx="914400" cy="219456"/>
          </a:xfrm>
          <a:prstGeom prst="rect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7739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我给自己立的三条规矩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231136"/>
            <a:ext cx="27432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① 一天一次查询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带 pubtime 区间。第一版想省事一次抓完再摊到每天，算出过 +23616% 的假增长。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② 只取当日头部 20 条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order=click，再按相关性阈值筛掉无关内容。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③ 窗口不含今天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今天没过完就计入，头部偏低、增幅会假跌。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我把当时热度最高的梗，挡在库外整整两个月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73936"/>
            <a:ext cx="5394960" cy="27432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" y="2011680"/>
            <a:ext cx="146304" cy="146304"/>
          </a:xfrm>
          <a:prstGeom prst="ellipse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956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D8AFE"/>
                </a:solidFill>
                <a:latin typeface="Microsoft YaHei"/>
              </a:rPr>
              <a:t>8 月 21 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56816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梗百科发了「老叟戏顽童」的解说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52928"/>
            <a:ext cx="146304" cy="146304"/>
          </a:xfrm>
          <a:prstGeom prst="ellipse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7980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0D8AFE"/>
                </a:solidFill>
                <a:latin typeface="Microsoft YaHei"/>
              </a:rPr>
              <a:t>8 月 23 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9806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梗指南也跟了一期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694176"/>
            <a:ext cx="146304" cy="146304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6393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我定的规则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63931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3C5989"/>
                </a:solidFill>
                <a:latin typeface="Microsoft YaHei"/>
              </a:rPr>
              <a:t>两位都介绍过才算数，而且只看最近 30 天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535424"/>
            <a:ext cx="146304" cy="146304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4805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48056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4161F"/>
                </a:solidFill>
                <a:latin typeface="Microsoft YaHei"/>
              </a:rPr>
              <a:t>解说比爆发早 1~2 周，这条被我自己的窗口整条排除；同学当场问「这个你怎么没有」</a:t>
            </a:r>
          </a:p>
        </p:txBody>
      </p:sp>
      <p:pic>
        <p:nvPicPr>
          <p:cNvPr id="17" name="Picture 16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700784"/>
            <a:ext cx="5029200" cy="246925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547104" y="4114800"/>
            <a:ext cx="4992624" cy="1737360"/>
          </a:xfrm>
          <a:prstGeom prst="roundRect">
            <a:avLst>
              <a:gd name="adj" fmla="val 6000"/>
            </a:avLst>
          </a:prstGeom>
          <a:solidFill>
            <a:srgbClr val="E2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4261104"/>
            <a:ext cx="44805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1">
                <a:solidFill>
                  <a:srgbClr val="0B8A46"/>
                </a:solidFill>
                <a:latin typeface="Microsoft YaHei"/>
              </a:rPr>
              <a:t>改法：准入看并集，认证降级成标签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任一 UP 主在 90 天滚动窗口内介绍过就入池。同一批投稿，池子从 8 个变成 51 个；两位都做过的仍然单独标「双 UP 认证」，但它不再是闸门。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200" b="0">
                <a:solidFill>
                  <a:srgbClr val="6B7C9C"/>
                </a:solidFill>
                <a:latin typeface="Microsoft YaHei"/>
              </a:rPr>
              <a:t>认证窗口和报告窗口是两件事，合成一个就会漏梗——这是我这轮最贵的一课。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热度怎么算：五因子，但先取对数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5852160" cy="1517904"/>
          </a:xfrm>
          <a:prstGeom prst="roundRect">
            <a:avLst>
              <a:gd name="adj" fmla="val 6000"/>
            </a:avLst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0078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50" b="1">
                <a:solidFill>
                  <a:srgbClr val="FFE9A8"/>
                </a:solidFill>
                <a:latin typeface="KaiTi"/>
              </a:rPr>
              <a:t>Hotness = 0.25·增长 + 0.25·播放 + 0.20·互动
                 + 0.16·内容 + 0.14·创作者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3CEE3"/>
                </a:solidFill>
                <a:latin typeface="Microsoft YaHei"/>
              </a:rPr>
              <a:t>每个因子先做对数区间归一化，再加权</a:t>
            </a:r>
          </a:p>
        </p:txBody>
      </p:sp>
      <p:pic>
        <p:nvPicPr>
          <p:cNvPr id="7" name="Picture 6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200400"/>
            <a:ext cx="5852160" cy="2600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481328"/>
            <a:ext cx="477316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609344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161F"/>
                </a:solidFill>
                <a:latin typeface="Microsoft YaHei"/>
              </a:rPr>
              <a:t>增长敢给到 1/4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1993392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只看最近 7 天比前 7 天。去年 1 亿播放、今天没人做的梗，就不该继续霸榜。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944368"/>
            <a:ext cx="477316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3072384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161F"/>
                </a:solidFill>
                <a:latin typeface="Microsoft YaHei"/>
              </a:rPr>
              <a:t>样本小就不外推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3456432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前一周讨论量不到 30、或样本不到 3 条，增长率直接留空。考古区冒出一条视频，不算 +100%。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4407408"/>
            <a:ext cx="477316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2592" y="4535424"/>
            <a:ext cx="4297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14161F"/>
                </a:solidFill>
                <a:latin typeface="Microsoft YaHei"/>
              </a:rPr>
              <a:t>人工碰不到分数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4919472"/>
            <a:ext cx="42976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封面、介绍、别名、关键词可以人改；热度、阶段、赶梗结论只能算法产出——接口层锁死，有测试盯着。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80 分有两种：一种在冲，一种在崩</a:t>
            </a:r>
          </a:p>
        </p:txBody>
      </p:sp>
      <p:pic>
        <p:nvPicPr>
          <p:cNvPr id="4" name="Picture 3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63040"/>
            <a:ext cx="6858000" cy="311935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1481328"/>
            <a:ext cx="37673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591056"/>
            <a:ext cx="45720" cy="60350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91856" y="1572768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闪身步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1856" y="1901952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09-13 起从零爬到 81，还在冲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432304"/>
            <a:ext cx="37673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542032"/>
            <a:ext cx="45720" cy="603504"/>
          </a:xfrm>
          <a:prstGeom prst="rect">
            <a:avLst/>
          </a:prstGeom>
          <a:solidFill>
            <a:srgbClr val="0D8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1856" y="2523744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琵琶曲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852928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脉冲型：冲完 09-25 直接断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383280"/>
            <a:ext cx="3767328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493008"/>
            <a:ext cx="45720" cy="603504"/>
          </a:xfrm>
          <a:prstGeom prst="rect">
            <a:avLst/>
          </a:prstGeom>
          <a:solidFill>
            <a:srgbClr val="54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1856" y="3474720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老叟戏顽童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1856" y="3803904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从 84 一路退到 52，退潮期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53712"/>
            <a:ext cx="6858000" cy="1371600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18304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六个阶段，规则自上而下匹配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萌芽 → 上升 → 爆发 → 平稳 → 退潮 → 过气。判定只用四件事：增长率、距峰值差、连续下滑天数、活跃度。阈值全在一个配置文件里，别人可以复算，也可以跟我吵。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334256"/>
            <a:ext cx="3767328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1856" y="448056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LLM 只负责说人话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阶段和赶不赶都是算法先定，它再翻译。模型返回的状态跟算法不一致，以算法为准；文案里出现「预计」「未来 7 天」「一定会爆」这类话，直接丢掉。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四个我亲手造出来的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C9C"/>
                </a:solidFill>
                <a:latin typeface="Microsoft YaHei"/>
              </a:rPr>
              <a:t>都不是会报错的那种——口径错了，每个数照样算得出来，最难查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10512"/>
            <a:ext cx="11430000" cy="402336"/>
          </a:xfrm>
          <a:prstGeom prst="rect">
            <a:avLst/>
          </a:prstGeom>
          <a:solidFill>
            <a:srgbClr val="14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92807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症状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0672" y="1892807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化验单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5312" y="1892807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病因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712" y="1892807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处方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12848"/>
            <a:ext cx="1143000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40864"/>
            <a:ext cx="1993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假增长 +23,616%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340864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一次抓完再摊到每天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340864"/>
            <a:ext cx="2907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拿今天看到的播放量回填历史某天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340864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>
                <a:solidFill>
                  <a:srgbClr val="0B8A46"/>
                </a:solidFill>
                <a:latin typeface="Microsoft YaHei"/>
              </a:rPr>
              <a:t>逐日带时间区间查询，只算当天发布的头部内容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255263"/>
            <a:ext cx="11430000" cy="1042415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83279"/>
            <a:ext cx="1993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榜首那个梗是假的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383279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418 条样本里 343 条在讲黄豆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3383279"/>
            <a:ext cx="2907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「我不是黄豆」的别名写成黄豆，炒黄豆、树叶做豆腐全灌进来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383279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>
                <a:solidFill>
                  <a:srgbClr val="0B8A46"/>
                </a:solidFill>
                <a:latin typeface="Microsoft YaHei"/>
              </a:rPr>
              <a:t>短于 4 字的别名只算弱证据，必须再有第二个词佐证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297679"/>
            <a:ext cx="11430000" cy="10424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425695"/>
            <a:ext cx="1993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热度最高的梗不在榜上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0672" y="4425695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90 天交集只剩 8 个梗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4425695"/>
            <a:ext cx="2907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日更 UP 的选题被周更 UP 的排期一票否决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425695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>
                <a:solidFill>
                  <a:srgbClr val="0B8A46"/>
                </a:solidFill>
                <a:latin typeface="Microsoft YaHei"/>
              </a:rPr>
              <a:t>准入改并集，认证窗口独立 90 天滚动，双 UP 降级为标签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340096"/>
            <a:ext cx="11430000" cy="1042415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468112"/>
            <a:ext cx="19933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1">
                <a:solidFill>
                  <a:srgbClr val="FB3A5E"/>
                </a:solidFill>
                <a:latin typeface="Microsoft YaHei"/>
              </a:rPr>
              <a:t>刷新把数据刷没了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5468112"/>
            <a:ext cx="2542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琵琶曲 4 天 / 3,976 万 → 1 天 / 18 条，44.2 分掉到 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5468112"/>
            <a:ext cx="2907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同一词同一天两次返回的头部 20 条差很远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5468112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50" b="1">
                <a:solidFill>
                  <a:srgbClr val="0B8A46"/>
                </a:solidFill>
                <a:latin typeface="Microsoft YaHei"/>
              </a:rPr>
              <a:t>同一天只留更好的一次观测（比样本数与播放量，绝不相加），另从快照回填 53 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1810512"/>
            <a:ext cx="11430000" cy="4572000"/>
          </a:xfrm>
          <a:prstGeom prst="rect">
            <a:avLst/>
          </a:prstGeom>
          <a:noFill/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我自己提的门槛，我自己先拿数据打了一遍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10424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B7C9C"/>
                </a:solidFill>
                <a:latin typeface="Microsoft YaHei"/>
              </a:rPr>
              <a:t>提法：解说视频破百万才值得做。检验：把 31 个上榜梗的解说播放量和它自己的热度放一起看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6400800" cy="325715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755648"/>
            <a:ext cx="422452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52944" y="1901952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300" b="1">
                <a:solidFill>
                  <a:srgbClr val="14161F"/>
                </a:solidFill>
                <a:latin typeface="Microsoft YaHei"/>
              </a:rPr>
              <a:t>Pearson r = +0.40（p = 0.028）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秩相关 ρ = +0.29（p = 0.12，不显著）</a:t>
            </a:r>
          </a:p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播放量只能解释热度方差的约 16%。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383280"/>
            <a:ext cx="4224528" cy="1005840"/>
          </a:xfrm>
          <a:prstGeom prst="roundRect">
            <a:avLst>
              <a:gd name="adj" fmla="val 6000"/>
            </a:avLst>
          </a:prstGeom>
          <a:solidFill>
            <a:srgbClr val="FD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40000">
            <a:off x="10607040" y="3438144"/>
            <a:ext cx="822960" cy="976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闪身步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">
            <a:off x="10671048" y="3502152"/>
            <a:ext cx="694944" cy="52852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rot="240000">
            <a:off x="10607040" y="4048963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闪身步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3493008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闪身步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52944" y="38404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解说只有 64.6 万 → </a:t>
            </a:r>
            <a:r>
              <a:rPr sz="1150" b="1">
                <a:solidFill>
                  <a:srgbClr val="FB3A5E"/>
                </a:solidFill>
                <a:latin typeface="Microsoft YaHei"/>
              </a:rPr>
              <a:t>热度 81.0，当前第一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517136"/>
            <a:ext cx="4224528" cy="100584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40000">
            <a:off x="10607040" y="4572000"/>
            <a:ext cx="822960" cy="9765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宗主第二招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40000">
            <a:off x="10671048" y="4636008"/>
            <a:ext cx="694944" cy="52852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rot="240000">
            <a:off x="10607040" y="518281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3C5989"/>
                </a:solidFill>
                <a:latin typeface="Microsoft YaHei"/>
              </a:rPr>
              <a:t>宗主第二招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4626864"/>
            <a:ext cx="2926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宗主第二招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497433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解说 160.7 万 → </a:t>
            </a:r>
            <a:r>
              <a:rPr sz="1150" b="1">
                <a:solidFill>
                  <a:srgbClr val="FB3A5E"/>
                </a:solidFill>
                <a:latin typeface="Microsoft YaHei"/>
              </a:rPr>
              <a:t>热度 0.0，30 天里 2 天有内容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30368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结论：这个门槛会同时漏掉最热的、收进最凉的。播放量只适合当采集成本的预算筛，不能当准入判据——那个数字量的是 UP 主自己的粉丝盘，而且是发布那一刻的存量。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现在榜上长这样（明早刷新后可能就不一样了）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17904"/>
            <a:ext cx="9052560" cy="365760"/>
          </a:xfrm>
          <a:prstGeom prst="rect">
            <a:avLst/>
          </a:prstGeom>
          <a:solidFill>
            <a:srgbClr val="14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5910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159105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1136" y="1591056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梗名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5696" y="159105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热度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5910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15910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赶梗结论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3296" y="15910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认证标签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9052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2996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1</a:t>
            </a:r>
          </a:p>
        </p:txBody>
      </p:sp>
      <p:pic>
        <p:nvPicPr>
          <p:cNvPr id="14" name="Picture 13" descr="闪身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947672"/>
            <a:ext cx="859536" cy="4389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31136" y="202996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闪身步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20299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81.0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02996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爆发期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029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0299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梗百科认证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450592"/>
            <a:ext cx="9052560" cy="566928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5968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2</a:t>
            </a:r>
          </a:p>
        </p:txBody>
      </p:sp>
      <p:pic>
        <p:nvPicPr>
          <p:cNvPr id="22" name="Picture 21" descr="耍起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14600"/>
            <a:ext cx="859536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31136" y="2596896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耍起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5696" y="259689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69.5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0096" y="25968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259689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3296" y="25968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梗指南认证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017520"/>
            <a:ext cx="9052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16382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3</a:t>
            </a:r>
          </a:p>
        </p:txBody>
      </p:sp>
      <p:pic>
        <p:nvPicPr>
          <p:cNvPr id="30" name="Picture 29" descr="野生狗奶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081527"/>
            <a:ext cx="859536" cy="4389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31136" y="3163824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野生狗奶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316382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69.0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31638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316382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316382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584448"/>
            <a:ext cx="9052560" cy="566928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3730752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4</a:t>
            </a:r>
          </a:p>
        </p:txBody>
      </p:sp>
      <p:pic>
        <p:nvPicPr>
          <p:cNvPr id="38" name="Picture 37" descr="牛来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648456"/>
            <a:ext cx="859536" cy="438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231136" y="3730752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牛来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25696" y="37307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56.7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0096" y="37307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37307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慎赶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6" y="373075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151376"/>
            <a:ext cx="9052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29768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5</a:t>
            </a:r>
          </a:p>
        </p:txBody>
      </p:sp>
      <p:pic>
        <p:nvPicPr>
          <p:cNvPr id="46" name="Picture 45" descr="雨中霸王龙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4215384"/>
            <a:ext cx="859536" cy="43891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231136" y="4297680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雨中霸王龙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25696" y="4297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53.6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40096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8816" y="42976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3296" y="42976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梗指南认证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718304"/>
            <a:ext cx="9052560" cy="566928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" y="486460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6</a:t>
            </a:r>
          </a:p>
        </p:txBody>
      </p:sp>
      <p:pic>
        <p:nvPicPr>
          <p:cNvPr id="54" name="Picture 53" descr="老叟戏顽童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782312"/>
            <a:ext cx="859536" cy="4389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231136" y="4864608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老叟戏顽童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25696" y="48646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52.5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0096" y="486460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退潮期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8816" y="48646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你来晚了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3296" y="486460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双 UP 认证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5285231"/>
            <a:ext cx="9052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543153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14161F"/>
                </a:solidFill>
                <a:latin typeface="Microsoft YaHei"/>
              </a:rPr>
              <a:t>7</a:t>
            </a:r>
          </a:p>
        </p:txBody>
      </p:sp>
      <p:pic>
        <p:nvPicPr>
          <p:cNvPr id="62" name="Picture 61" descr="大狗叫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" y="5349240"/>
            <a:ext cx="859536" cy="43891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2231136" y="5431536"/>
            <a:ext cx="20116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4161F"/>
                </a:solidFill>
                <a:latin typeface="Microsoft YaHei"/>
              </a:rPr>
              <a:t>大狗叫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25696" y="5431536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47.0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0096" y="5431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上升期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28816" y="543153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还来得及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83296" y="54315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3C5989"/>
                </a:solidFill>
                <a:latin typeface="Microsoft YaHei"/>
              </a:rPr>
              <a:t>梗百科认证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" y="1517904"/>
            <a:ext cx="9052560" cy="4334256"/>
          </a:xfrm>
          <a:prstGeom prst="rect">
            <a:avLst/>
          </a:prstGeom>
          <a:noFill/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966960" y="1517904"/>
            <a:ext cx="1572768" cy="433425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13264" y="1664208"/>
            <a:ext cx="12801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50" b="1">
                <a:solidFill>
                  <a:srgbClr val="14161F"/>
                </a:solidFill>
                <a:latin typeface="Microsoft YaHei"/>
              </a:rPr>
              <a:t>阶段分布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1">
                <a:solidFill>
                  <a:srgbClr val="FB3A5E"/>
                </a:solidFill>
                <a:latin typeface="Microsoft YaHei"/>
              </a:rPr>
              <a:t>爆发 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上升 5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平稳 1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萌芽 2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3C5989"/>
                </a:solidFill>
                <a:latin typeface="Microsoft YaHei"/>
              </a:rPr>
              <a:t>退潮 5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100" b="0">
                <a:solidFill>
                  <a:srgbClr val="6B7C9C"/>
                </a:solidFill>
                <a:latin typeface="Microsoft YaHei"/>
              </a:rPr>
              <a:t>过气 17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400" b="0">
                <a:solidFill>
                  <a:srgbClr val="14161F"/>
                </a:solidFill>
                <a:latin typeface="Microsoft YaHei"/>
              </a:rPr>
              <a:t/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00" b="0">
                <a:solidFill>
                  <a:srgbClr val="A8B2C6"/>
                </a:solidFill>
                <a:latin typeface="Microsoft YaHei"/>
              </a:rPr>
              <a:t>过气那 17 个还占着位置，是下一步要摘掉的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504688"/>
            <a:ext cx="914400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6112" y="5614416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FB3A5E"/>
                </a:solidFill>
                <a:latin typeface="Microsoft YaHei"/>
              </a:rPr>
              <a:t>只把准入从交集换成并集，其他什么都没动：可分析的梗 8 → 51 个，榜上 31 个真梗、演示数据 0 个。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我怎么确认自己没在骗自己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276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0B8A46"/>
                </a:solidFill>
                <a:latin typeface="Microsoft YaHei"/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1396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单元 + 集成测试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算法、闸门、接口都有断言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481328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6276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0B8A46"/>
                </a:solidFill>
                <a:latin typeface="Microsoft YaHei"/>
              </a:rPr>
              <a:t>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1396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接口冒烟项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对着真实数据的后端逐项校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481328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276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0B8A46"/>
                </a:solidFill>
                <a:latin typeface="Microsoft YaHe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396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演示数据混进榜单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真实模式下闸门强制隔离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481328"/>
            <a:ext cx="26151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62763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700" b="1">
                <a:solidFill>
                  <a:srgbClr val="B97B0A"/>
                </a:solidFill>
                <a:latin typeface="Microsoft YaHei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39696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14161F"/>
                </a:solidFill>
                <a:latin typeface="Microsoft YaHei"/>
              </a:rPr>
              <a:t>入池但采到的梗是空的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3957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6B7C9C"/>
                </a:solidFill>
                <a:latin typeface="Microsoft YaHei"/>
              </a:rPr>
              <a:t>页面显示暂无数据，不补零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3108960"/>
            <a:ext cx="256032" cy="256032"/>
          </a:xfrm>
          <a:prstGeom prst="rect">
            <a:avLst/>
          </a:prstGeom>
          <a:noFill/>
          <a:ln w="20320">
            <a:solidFill>
              <a:srgbClr val="0B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58952" y="3236976"/>
            <a:ext cx="182880" cy="45720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22960" y="3145536"/>
            <a:ext cx="45720" cy="164592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3054096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口径写在界面上，不写在说明书里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054096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「当日播放量 = 该日头部 20 条相关视频合计」「统计截至 09-27，滞后 1 天」这类话直接显示在产品上，用户不用先读文档才知道数怎么来的。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3895344"/>
            <a:ext cx="256032" cy="256032"/>
          </a:xfrm>
          <a:prstGeom prst="rect">
            <a:avLst/>
          </a:prstGeom>
          <a:noFill/>
          <a:ln w="20320">
            <a:solidFill>
              <a:srgbClr val="0B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758952" y="4023360"/>
            <a:ext cx="182880" cy="45720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822960" y="3931920"/>
            <a:ext cx="45720" cy="164592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3840480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演示数据必须自报家门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840480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留了一套演示梗库用来跑通流程，但它永远带「演示数据」标记，真实模式下不进榜；自记自认的认证位不算证据。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4681727"/>
            <a:ext cx="256032" cy="256032"/>
          </a:xfrm>
          <a:prstGeom prst="rect">
            <a:avLst/>
          </a:prstGeom>
          <a:noFill/>
          <a:ln w="20320">
            <a:solidFill>
              <a:srgbClr val="0B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700000">
            <a:off x="758952" y="4809744"/>
            <a:ext cx="182880" cy="45720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 rot="2700000">
            <a:off x="822960" y="4718303"/>
            <a:ext cx="45720" cy="164592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" y="4626864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每一条样本都能抽查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626864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每个梗列出采信了哪些视频、各自相关性得分、命中哪个词，觉得数不对可以直接点进去看 BV 号。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468112"/>
            <a:ext cx="256032" cy="256032"/>
          </a:xfrm>
          <a:prstGeom prst="rect">
            <a:avLst/>
          </a:prstGeom>
          <a:noFill/>
          <a:ln w="20320">
            <a:solidFill>
              <a:srgbClr val="0B8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758952" y="5596128"/>
            <a:ext cx="182880" cy="45720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22960" y="5504688"/>
            <a:ext cx="45720" cy="164592"/>
          </a:xfrm>
          <a:prstGeom prst="rect">
            <a:avLst/>
          </a:prstGeom>
          <a:solidFill>
            <a:srgbClr val="0B8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33856" y="541324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改数据要能被发现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413248"/>
            <a:ext cx="5212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50" b="0">
                <a:solidFill>
                  <a:srgbClr val="6B7C9C"/>
                </a:solidFill>
                <a:latin typeface="Microsoft YaHei"/>
              </a:rPr>
              <a:t>重算幂等（同输入同输出）；改封面改介绍不动任何指标——这条有专门的回归测试盯着。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A8B2C6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>
                <a:solidFill>
                  <a:srgbClr val="14161F"/>
                </a:solidFill>
                <a:latin typeface="Microsoft YaHei"/>
              </a:rPr>
              <a:t>它现在哪里不准，以及我打算怎么办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64922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91056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脉冲型梗会被误判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3852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6B7C9C"/>
                </a:solidFill>
                <a:latin typeface="Microsoft YaHei"/>
              </a:rPr>
              <a:t>琵琶曲 30 天只有 4 天有内容，那天却播了 3,976 万。只看天数的门槛会判死它。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0368" y="1938528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1">
                <a:solidFill>
                  <a:srgbClr val="0B8A46"/>
                </a:solidFill>
                <a:latin typeface="Microsoft YaHei"/>
              </a:rPr>
              <a:t>上榜改双条件：天数 或 头部播放量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42032"/>
            <a:ext cx="64922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51760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过气梗还占着位置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9992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6B7C9C"/>
                </a:solidFill>
                <a:latin typeface="Microsoft YaHei"/>
              </a:rPr>
              <a:t>榜上 17 个热度 0.0 的梗，把「今天玩什么」的地方占了。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299923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1">
                <a:solidFill>
                  <a:srgbClr val="0B8A46"/>
                </a:solidFill>
                <a:latin typeface="Microsoft YaHei"/>
              </a:rPr>
              <a:t>过气不出榜，单独归到考古区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02736"/>
            <a:ext cx="64922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712463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更早的投稿拿不全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059935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6B7C9C"/>
                </a:solidFill>
                <a:latin typeface="Microsoft YaHei"/>
              </a:rPr>
              <a:t>空间接口匿名只稳定给最近约 50 条，两位 UP 的更早投稿要 Cookie。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059935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1">
                <a:solidFill>
                  <a:srgbClr val="0B8A46"/>
                </a:solidFill>
                <a:latin typeface="Microsoft YaHei"/>
              </a:rPr>
              <a:t>换指纹重试 + 索引缓存 + 缺口如实报告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63440"/>
            <a:ext cx="64922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773168"/>
            <a:ext cx="6035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4161F"/>
                </a:solidFill>
                <a:latin typeface="Microsoft YaHei"/>
              </a:rPr>
              <a:t>刷新还得手动跑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1206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>
                <a:solidFill>
                  <a:srgbClr val="6B7C9C"/>
                </a:solidFill>
                <a:latin typeface="Microsoft YaHei"/>
              </a:rPr>
              <a:t>全库一轮 51 个梗要 30~45 分钟，目前没有调度。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512064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1">
                <a:solidFill>
                  <a:srgbClr val="0B8A46"/>
                </a:solidFill>
                <a:latin typeface="Microsoft YaHei"/>
              </a:rPr>
              <a:t>每日增量刷新 + 单梗重采入口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481328"/>
            <a:ext cx="4133087" cy="4059936"/>
          </a:xfrm>
          <a:prstGeom prst="roundRect">
            <a:avLst>
              <a:gd name="adj" fmla="val 6000"/>
            </a:avLst>
          </a:prstGeom>
          <a:solidFill>
            <a:srgbClr val="FFFDF7"/>
          </a:solidFill>
          <a:ln w="12700">
            <a:solidFill>
              <a:srgbClr val="E6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20000">
            <a:off x="9235440" y="1371600"/>
            <a:ext cx="914400" cy="219456"/>
          </a:xfrm>
          <a:prstGeom prst="rect">
            <a:avLst/>
          </a:prstGeom>
          <a:solidFill>
            <a:srgbClr val="FFE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170078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14161F"/>
                </a:solidFill>
                <a:latin typeface="Microsoft YaHei"/>
              </a:rPr>
              <a:t>剩下几周怎么排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2249424"/>
            <a:ext cx="109728" cy="109728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2377440"/>
            <a:ext cx="18288" cy="51206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0144" y="219456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1-2 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945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上榜层口径重做，补一组对照实验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0" y="2907792"/>
            <a:ext cx="109728" cy="109728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3035808"/>
            <a:ext cx="18288" cy="51206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0144" y="2852928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3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85292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增量刷新与调度；采空的梗用别名兜底再跑</a:t>
            </a:r>
          </a:p>
        </p:txBody>
      </p:sp>
      <p:sp>
        <p:nvSpPr>
          <p:cNvPr id="31" name="Oval 30"/>
          <p:cNvSpPr/>
          <p:nvPr/>
        </p:nvSpPr>
        <p:spPr>
          <a:xfrm>
            <a:off x="7772400" y="3566160"/>
            <a:ext cx="109728" cy="109728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3694176"/>
            <a:ext cx="18288" cy="51206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0144" y="351129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4 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3511296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20 人小实验：看热搜 vs 看本系统，谁的选题更准</a:t>
            </a:r>
          </a:p>
        </p:txBody>
      </p:sp>
      <p:sp>
        <p:nvSpPr>
          <p:cNvPr id="35" name="Oval 34"/>
          <p:cNvSpPr/>
          <p:nvPr/>
        </p:nvSpPr>
        <p:spPr>
          <a:xfrm>
            <a:off x="7772400" y="4224528"/>
            <a:ext cx="109728" cy="109728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4352544"/>
            <a:ext cx="18288" cy="512064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0144" y="416966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5 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169664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阶段判定混淆矩阵、热度与人工标注一致性检验</a:t>
            </a:r>
          </a:p>
        </p:txBody>
      </p:sp>
      <p:sp>
        <p:nvSpPr>
          <p:cNvPr id="39" name="Oval 38"/>
          <p:cNvSpPr/>
          <p:nvPr/>
        </p:nvSpPr>
        <p:spPr>
          <a:xfrm>
            <a:off x="7772400" y="4882895"/>
            <a:ext cx="109728" cy="109728"/>
          </a:xfrm>
          <a:prstGeom prst="ellipse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10144" y="4828031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FB3A5E"/>
                </a:solidFill>
                <a:latin typeface="Microsoft YaHei"/>
              </a:rPr>
              <a:t>第 6 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828031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3C5989"/>
                </a:solidFill>
                <a:latin typeface="Microsoft YaHei"/>
              </a:rPr>
              <a:t>写论文与图表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4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08990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KaiTi"/>
              </a:rPr>
              <a:t>有问题现在问——明天榜单就不长这样了。</a:t>
            </a:r>
            <a:r>
              <a:rPr sz="1150" b="0">
                <a:solidFill>
                  <a:srgbClr val="A8B2C6"/>
                </a:solidFill>
                <a:latin typeface="Microsoft YaHei"/>
              </a:rPr>
              <a:t>      现场可演示：127.0.0.1:5173，数据是昨晚真跑出来的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