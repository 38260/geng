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20 秒：别念标题，直接问「闪身步是什么？」——停顿两秒让场子安静，再宣布这是真实榜单第一名。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举手环节 30 秒。目的不是互动，是让所有人亲眼看到「信息差」确实存在，然后把痛点收到「还剩几天」上。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秒。三类工具各说一句话就够，重点落在右边那格：把梗当成时间序列对象来测，这是本课题的位置。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秒。RQ 要念得出口、也要能被证伪；右边「不做清单」是防追问的挡箭牌，主动讲比被问到再答好。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秒。四个数字讲清规模，然后只挑一条口径细讲：为什么统计窗口不含今天（今天没过完，会算出假下跌）。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秒，本稿重点之一。先讲漏掉老叟戏顽童这个事故，再讲并集怎么修——问题驱动方法，比直接摆规则有说服力。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秒。公式不用念完，讲两件事：为什么对数归一（亿级老梗会永远压着新梗），为什么增长权重给到 0.25。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秒。指着曲线说：闪身步和老叟戏顽童分数接近，但一个在冲一个在崩，所以必须判成不同结论。再补一句 LLM 只能写文案。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秒，最能证明我真做过的一页。每个坑讲「现象 → 原因 → 修法」，其中黄豆那条最直观，可以多说一句。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秒。先说这是我自己提的直觉，再拿数据把它推翻：r=+0.40 但只解释 16% 方差，两个反例足够判门槛不成立。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秒。指出前三名热度接近但赶梗结论不同，说明阶段判定不是热度的复读。顺带交代并集带来的覆盖提升。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秒。强调验证的目标不是跑通，而是错了会被发现：测试数、演示数据隔离、能抽查到每一条视频。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秒收尾。主动交代四个已知不准，再给时间表；最后一句留在屏幕上：不是热搜的复读机，是热点的倒计时器。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889504"/>
          </a:xfrm>
          <a:prstGeom prst="roundRect">
            <a:avLst>
              <a:gd name="adj" fmla="val 9000"/>
            </a:avLst>
          </a:prstGeom>
          <a:solidFill>
            <a:srgbClr val="F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3346704"/>
            <a:ext cx="2377440" cy="118872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数据科学课程 · 开题答辩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335024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6200" b="1">
                <a:solidFill>
                  <a:srgbClr val="000214"/>
                </a:solidFill>
                <a:latin typeface="KaiTi"/>
              </a:rPr>
              <a:t>今天，赶什么梗？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323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100" b="1">
                <a:solidFill>
                  <a:srgbClr val="3C5989"/>
                </a:solidFill>
                <a:latin typeface="Microsoft YaHei"/>
              </a:rPr>
              <a:t>B 站网络梗热度与生命周期分析系统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12463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5E739F"/>
                </a:solidFill>
                <a:latin typeface="Microsoft YaHei"/>
              </a:rPr>
              <a:t>热搜榜已经会告诉你什么在爆。它回答另外三件事：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2000" b="1">
                <a:solidFill>
                  <a:srgbClr val="000214"/>
                </a:solidFill>
                <a:latin typeface="Microsoft YaHei"/>
              </a:rPr>
              <a:t>有多火 · 现在什么阶段 · 现在赶还来得及吗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846320"/>
            <a:ext cx="6035040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010912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开场先问一句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1">
                <a:solidFill>
                  <a:srgbClr val="000214"/>
                </a:solidFill>
                <a:latin typeface="Microsoft YaHei"/>
              </a:rPr>
              <a:t>「闪身步」9 月 21 日才被人解说，9 月 26 日热度 81 分居榜首。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你现在才听说它，算早还是算晚？这套系统就是来给个准数的。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502920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1">
                <a:solidFill>
                  <a:srgbClr val="000214"/>
                </a:solidFill>
                <a:latin typeface="Microsoft YaHei"/>
              </a:rPr>
              <a:t>汇报人 ____________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5E739F"/>
                </a:solidFill>
                <a:latin typeface="Microsoft YaHei"/>
              </a:rPr>
              <a:t>学号 ____________    指导教师 ________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B0BAD0"/>
                </a:solidFill>
                <a:latin typeface="Microsoft YaHei"/>
              </a:rPr>
              <a:t>数据截至 2026-09-27，真实抓取，非样例数据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开场 · 现场测一下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7899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这五个梗，现场能认出三个以上的同学请举手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0">
                <a:solidFill>
                  <a:srgbClr val="5E739F"/>
                </a:solidFill>
                <a:latin typeface="Microsoft YaHei"/>
              </a:rPr>
              <a:t>它们都是最近 30 天 B 站真实热度榜上的前五名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84831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2311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042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000214"/>
                </a:solidFill>
                <a:latin typeface="Microsoft YaHei"/>
              </a:rPr>
              <a:t>闪身步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46704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B3A5E"/>
                </a:solidFill>
                <a:latin typeface="Microsoft YaHei"/>
              </a:rPr>
              <a:t>热度 81.0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810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爆发期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梗百科认证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2084831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62656" y="22311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23042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8A14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28346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000214"/>
                </a:solidFill>
                <a:latin typeface="Microsoft YaHei"/>
              </a:rPr>
              <a:t>耍起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346704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B3A5E"/>
                </a:solidFill>
                <a:latin typeface="Microsoft YaHei"/>
              </a:rPr>
              <a:t>热度 69.5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749039"/>
            <a:ext cx="1810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梗指南认证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2084831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0" y="22311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3042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8A14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8346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000214"/>
                </a:solidFill>
                <a:latin typeface="Microsoft YaHei"/>
              </a:rPr>
              <a:t>野生狗奶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346704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B3A5E"/>
                </a:solidFill>
                <a:latin typeface="Microsoft YaHei"/>
              </a:rPr>
              <a:t>热度 69.0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749039"/>
            <a:ext cx="1810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双 UP 认证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2084831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1504" y="22311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23042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8A14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8346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000214"/>
                </a:solidFill>
                <a:latin typeface="Microsoft YaHei"/>
              </a:rPr>
              <a:t>牛来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3346704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B3A5E"/>
                </a:solidFill>
                <a:latin typeface="Microsoft YaHei"/>
              </a:rPr>
              <a:t>热度 56.7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749039"/>
            <a:ext cx="1810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双 UP 认证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64624" y="2084831"/>
            <a:ext cx="2084831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10928" y="22311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23042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88A14"/>
                </a:solidFill>
                <a:latin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5" y="2834640"/>
            <a:ext cx="1810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000214"/>
                </a:solidFill>
                <a:latin typeface="Microsoft YaHei"/>
              </a:rPr>
              <a:t>雨中霸王龙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5" y="3346704"/>
            <a:ext cx="1810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B3A5E"/>
                </a:solidFill>
                <a:latin typeface="Microsoft YaHei"/>
              </a:rPr>
              <a:t>热度 53.6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5" y="3749039"/>
            <a:ext cx="1810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梗指南认证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645152"/>
            <a:ext cx="11064240" cy="13350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4809744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400" b="1">
                <a:solidFill>
                  <a:srgbClr val="000214"/>
                </a:solidFill>
                <a:latin typeface="Microsoft YaHei"/>
              </a:rPr>
              <a:t>认不出来很正常——梗的活跃窗口通常只有两三周。</a:t>
            </a: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300" b="0">
                <a:solidFill>
                  <a:srgbClr val="3C5989"/>
                </a:solidFill>
                <a:latin typeface="Microsoft YaHei"/>
              </a:rPr>
              <a:t>真正难受的不是没听过，而是：你听说了、点进创作中心、写完脚本发出去，它已经不火了。本课题要量化的正是这段还剩多少时间。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现成工具都在报「现在什么在爆」，没人报「这个梗还剩几天」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5E739F"/>
                </a:solidFill>
                <a:latin typeface="Microsoft YaHei"/>
              </a:rPr>
              <a:t>三类现成做法各差在哪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03120"/>
            <a:ext cx="612648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231136"/>
            <a:ext cx="50292" cy="585216"/>
          </a:xfrm>
          <a:prstGeom prst="rect">
            <a:avLst/>
          </a:prstGeom>
          <a:solidFill>
            <a:srgbClr val="54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2128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微博热搜 / B 站热门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5504" y="22494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22951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546F98"/>
                </a:solidFill>
                <a:latin typeface="Microsoft YaHei"/>
              </a:rPr>
              <a:t>存量快照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60320"/>
            <a:ext cx="5760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只告诉你此刻谁在前面，不看趋势形状；一个梗崩盘当天照样能挂在榜上。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54096"/>
            <a:ext cx="612648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182112"/>
            <a:ext cx="50292" cy="585216"/>
          </a:xfrm>
          <a:prstGeom prst="rect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16382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百度指数 / 巨量算数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3200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32461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0D8AFE"/>
                </a:solidFill>
                <a:latin typeface="Microsoft YaHei"/>
              </a:rPr>
              <a:t>搜索词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511296"/>
            <a:ext cx="5760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搜的是词不是梗，「松弛感」这类口语词混进大量无关搜索，也不分阶段。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005072"/>
            <a:ext cx="612648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133087"/>
            <a:ext cx="50292" cy="585216"/>
          </a:xfrm>
          <a:prstGeom prst="rect">
            <a:avLst/>
          </a:prstGeom>
          <a:solidFill>
            <a:srgbClr val="C88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1148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UP 主凭手感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75504" y="41513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4" y="41970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C88A14"/>
                </a:solidFill>
                <a:latin typeface="Microsoft YaHei"/>
              </a:rPr>
              <a:t>个人经验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462272"/>
            <a:ext cx="5760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选题靠刷，刷到往往已晚两天；同一个人判断「早晚」每次都不一样。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682496"/>
            <a:ext cx="4681728" cy="3200400"/>
          </a:xfrm>
          <a:prstGeom prst="roundRect">
            <a:avLst>
              <a:gd name="adj" fmla="val 9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188366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本课题要补的那一格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2340864"/>
            <a:ext cx="4114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400" b="1">
                <a:solidFill>
                  <a:srgbClr val="000214"/>
                </a:solidFill>
                <a:latin typeface="Microsoft YaHei"/>
              </a:rPr>
              <a:t>把「梗」当成一个可测量的时间序列对象：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500" b="0">
                <a:solidFill>
                  <a:srgbClr val="000214"/>
                </a:solidFill>
                <a:latin typeface="Microsoft YaHei"/>
              </a:rPr>
              <a:t/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· 有口径的热度值，不是排名，是可比的分数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· 有规则的阶段判定，萌芽到爆发再到过气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· 有置信度的赶梗结论：还来得及 / 慎赶 / 你来晚了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4593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缺口不是数据不够多，而是没人把「还剩多久」当成一个可以被证伪的问题来定义。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研究问题与边界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三个能回答、也能被证伪的问题，以及三件明确不做的事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6492240" cy="9509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385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FB3A5E"/>
                </a:solidFill>
                <a:latin typeface="Microsoft YaHe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000214"/>
                </a:solidFill>
                <a:latin typeface="Microsoft YaHei"/>
              </a:rPr>
              <a:t>一个梗现在有多火？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构造 0-100 的自定义热度指数：播放 / 互动 / 内容量 / 创作者 / 增长五因子加权，绝对量先做对数区间归一。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9504"/>
            <a:ext cx="6492240" cy="9509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0175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FB3A5E"/>
                </a:solidFill>
                <a:latin typeface="Microsoft YaHei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92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000214"/>
                </a:solidFill>
                <a:latin typeface="Microsoft YaHei"/>
              </a:rPr>
              <a:t>它处在生命周期的哪一段？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6499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用时间序列特征（增长率、距峰值差、连续下滑天数、活跃度）跑规则引擎，落到六个阶段之一。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68496"/>
            <a:ext cx="6492240" cy="9509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9651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FB3A5E"/>
                </a:solidFill>
                <a:latin typeface="Microsoft YaHe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7822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000214"/>
                </a:solidFill>
                <a:latin typeface="Microsoft YaHei"/>
              </a:rPr>
              <a:t>现在赶这个梗，来得及吗？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43983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把 RQ1/RQ2 的输出交给判定规则，给三态结论 + 置信度 + 一句人话理由。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1810512"/>
            <a:ext cx="4334256" cy="3218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97510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000214"/>
                </a:solidFill>
                <a:latin typeface="Microsoft YaHei"/>
              </a:rPr>
              <a:t>V1 刻意不做（做了必挨问）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2395728"/>
            <a:ext cx="38404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不做未来数值预测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50" b="0">
                <a:solidFill>
                  <a:srgbClr val="5E739F"/>
                </a:solidFill>
                <a:latin typeface="Microsoft YaHei"/>
              </a:rPr>
              <a:t>只描述已经发生的数据，不宣称「下周会爆」。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不让大模型改任何事实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50" b="0">
                <a:solidFill>
                  <a:srgbClr val="5E739F"/>
                </a:solidFill>
                <a:latin typeface="Microsoft YaHei"/>
              </a:rPr>
              <a:t>LLM 只写解释文案；它给的状态与算法不一致时以算法为准，越界表述直接丢弃。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不做多平台、不做用户体系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50" b="0">
                <a:solidFill>
                  <a:srgbClr val="5E739F"/>
                </a:solidFill>
                <a:latin typeface="Microsoft YaHei"/>
              </a:rPr>
              <a:t>只测 B 站，先把一把尺子做准，不追覆盖面。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4593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边界写清楚不是缩水，是让每个结论都能被检验：能算错，也算得出来谁对。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0D8AFE"/>
                </a:solidFill>
                <a:latin typeface="Microsoft YaHei"/>
              </a:rPr>
              <a:t>数据 · 从哪来，有多少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全部真实抓取：没有一条数据是我编的，也没有一条拿样例顶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26517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0D8AFE"/>
                </a:solidFill>
                <a:latin typeface="Microsoft YaHei"/>
              </a:rPr>
              <a:t>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77439"/>
            <a:ext cx="22494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梗库总量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050" b="0">
                <a:solidFill>
                  <a:srgbClr val="5E739F"/>
                </a:solidFill>
                <a:latin typeface="Microsoft YaHei"/>
              </a:rPr>
              <a:t>其中 83 个通过准入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517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883664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0D8AFE"/>
                </a:solidFill>
                <a:latin typeface="Microsoft YaHei"/>
              </a:rPr>
              <a:t>2,010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377439"/>
            <a:ext cx="22494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梗 × 天 日统计行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050" b="0">
                <a:solidFill>
                  <a:srgbClr val="5E739F"/>
                </a:solidFill>
                <a:latin typeface="Microsoft YaHei"/>
              </a:rPr>
              <a:t>447 行真有内容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37360"/>
            <a:ext cx="26517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83664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0D8AFE"/>
                </a:solidFill>
                <a:latin typeface="Microsoft YaHei"/>
              </a:rPr>
              <a:t>1,632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39"/>
            <a:ext cx="22494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采信视频样本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050" b="0">
                <a:solidFill>
                  <a:srgbClr val="5E739F"/>
                </a:solidFill>
                <a:latin typeface="Microsoft YaHei"/>
              </a:rPr>
              <a:t>过相关性阈值才入库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1737360"/>
            <a:ext cx="2615184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883664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0D8AFE"/>
                </a:solidFill>
                <a:latin typeface="Microsoft YaHei"/>
              </a:rPr>
              <a:t>2.08 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2377439"/>
            <a:ext cx="22128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头部样本累计播放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050" b="0">
                <a:solidFill>
                  <a:srgbClr val="5E739F"/>
                </a:solidFill>
                <a:latin typeface="Microsoft YaHei"/>
              </a:rPr>
              <a:t>统计截至 2026-09-27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200400"/>
            <a:ext cx="6035040" cy="2798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6499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000214"/>
                </a:solidFill>
                <a:latin typeface="Microsoft YaHei"/>
              </a:rPr>
              <a:t>采集口径三条，都是踩坑换来的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03904"/>
            <a:ext cx="5577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50" b="1">
                <a:solidFill>
                  <a:srgbClr val="0D8AFE"/>
                </a:solidFill>
                <a:latin typeface="Microsoft YaHei"/>
              </a:rPr>
              <a:t>① 按天带时间区间查询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每天单独取 pubtime_begin / end；一次抓完再回填历史，算出过 +23616% 的假增长。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50" b="1">
                <a:solidFill>
                  <a:srgbClr val="0D8AFE"/>
                </a:solidFill>
                <a:latin typeface="Microsoft YaHei"/>
              </a:rPr>
              <a:t>② 当日头部 20 条相关视频当样本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所以「当日播放量」是头部内容的合计，跨日跨梗同一把尺子，不是全站绝对量。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50" b="1">
                <a:solidFill>
                  <a:srgbClr val="0D8AFE"/>
                </a:solidFill>
                <a:latin typeface="Microsoft YaHei"/>
              </a:rPr>
              <a:t>③ 统计窗口不含今天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今天还没过完，计入会让头部样本偏低、增幅出现假下跌。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39712" y="3200400"/>
            <a:ext cx="4791456" cy="2798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336499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000214"/>
                </a:solidFill>
                <a:latin typeface="Microsoft YaHei"/>
              </a:rPr>
              <a:t>梗的存在性证明：两位解说 UP 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3803904"/>
            <a:ext cx="4297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300" b="1">
                <a:solidFill>
                  <a:srgbClr val="000214"/>
                </a:solidFill>
                <a:latin typeface="Microsoft YaHei"/>
              </a:rPr>
              <a:t>梗百科 </a:t>
            </a:r>
            <a:r>
              <a:rPr sz="1200" b="0">
                <a:solidFill>
                  <a:srgbClr val="3C5989"/>
                </a:solidFill>
                <a:latin typeface="Microsoft YaHei"/>
              </a:rPr>
              <a:t>日更，90 天内 41 条投稿、识别出 37 个梗名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300" b="1">
                <a:solidFill>
                  <a:srgbClr val="000214"/>
                </a:solidFill>
                <a:latin typeface="Microsoft YaHei"/>
              </a:rPr>
              <a:t>梗指南 </a:t>
            </a:r>
            <a:r>
              <a:rPr sz="1200" b="0">
                <a:solidFill>
                  <a:srgbClr val="3C5989"/>
                </a:solidFill>
                <a:latin typeface="Microsoft YaHei"/>
              </a:rPr>
              <a:t>周更，22 条投稿、22 个梗名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500" b="0">
                <a:solidFill>
                  <a:srgbClr val="000214"/>
                </a:solidFill>
                <a:latin typeface="Microsoft YaHei"/>
              </a:rPr>
              <a:t/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为什么拿他们当入口：一个梗值不值得被记录，先要看有没有人把它讲明白过。证据是真实 BV 号、标题与发布时间，页面上能直接点开验证。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4593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接口：B 站 wbi 搜索 + 视频详情，匿名设备指纹 + WBI 签名；空间投稿接口按会话风控，深翻页会被 412 / -352 拦下。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方法 · 发现层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准入规则从「交集」改成「并集」，是被一个漏掉的梗逼出来的</a:t>
            </a:r>
          </a:p>
        </p:txBody>
      </p:sp>
      <p:pic>
        <p:nvPicPr>
          <p:cNvPr id="7" name="Picture 6" descr="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73936"/>
            <a:ext cx="5577840" cy="27386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773936"/>
            <a:ext cx="5230368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9385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300" b="1">
                <a:solidFill>
                  <a:srgbClr val="000214"/>
                </a:solidFill>
                <a:latin typeface="Microsoft YaHei"/>
              </a:rPr>
              <a:t>旧口径：两位 UP 主都介绍过才算数。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90 天实测：梗百科 37 个、梗指南 22 个，交集只剩 8 个。等于让日更 UP 的选题被周更 UP 的排期一票否决。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383280"/>
            <a:ext cx="5230368" cy="1463040"/>
          </a:xfrm>
          <a:prstGeom prst="roundRect">
            <a:avLst>
              <a:gd name="adj" fmla="val 9000"/>
            </a:avLst>
          </a:prstGeom>
          <a:solidFill>
            <a:srgbClr val="E5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3547872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300" b="1">
                <a:solidFill>
                  <a:srgbClr val="019646"/>
                </a:solidFill>
                <a:latin typeface="Microsoft YaHei"/>
              </a:rPr>
              <a:t>新口径：任一 UP 主 90 天内介绍过即入池。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同一批投稿，池子从 8 个变成 51 个；两位都做过的仍然单独标「双 UP 认证」，只是降级成标签而不是闸门。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047488"/>
            <a:ext cx="11064240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9379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FB3A5E"/>
                </a:solidFill>
                <a:latin typeface="Microsoft YaHei"/>
              </a:rPr>
              <a:t>两个窗口必须分开，这是最贵的一课：</a:t>
            </a:r>
            <a:r>
              <a:rPr sz="1250" b="0">
                <a:solidFill>
                  <a:srgbClr val="3C5989"/>
                </a:solidFill>
                <a:latin typeface="Microsoft YaHei"/>
              </a:rPr>
              <a:t>解说视频通常比梗的爆发期早 1~2 周。我一开始拿 30 天报告窗口同时当认证窗口用，结果把 8 月 21 日解说的「老叟戏顽童」整条排除在外，还据此断言两位 UP 都没做过——被当场指出。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方法 · 度量层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热度指数：一条爆款视频吃不掉整个榜</a:t>
            </a:r>
          </a:p>
        </p:txBody>
      </p:sp>
      <p:pic>
        <p:nvPicPr>
          <p:cNvPr id="7" name="Picture 6" descr="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92224"/>
            <a:ext cx="6035040" cy="2682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4169663"/>
            <a:ext cx="603504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34256"/>
            <a:ext cx="5577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50" b="1">
                <a:solidFill>
                  <a:srgbClr val="000214"/>
                </a:solidFill>
                <a:latin typeface="Microsoft YaHei"/>
              </a:rPr>
              <a:t>Hotness = 0.25·增长 + 0.25·播放 + 0.20·互动 + 0.16·内容 + 0.14·创作者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每个因子先做对数区间归一化再加权：播放量差三个量级的梗要能同框比较，线性归一会让亿级老梗永远压着新梗。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792224"/>
            <a:ext cx="4773168" cy="4206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195681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000214"/>
                </a:solidFill>
                <a:latin typeface="Microsoft YaHei"/>
              </a:rPr>
              <a:t>三个反直觉的设计决定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14032" y="243230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2468880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FB3A5E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41401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00214"/>
                </a:solidFill>
                <a:latin typeface="Microsoft YaHei"/>
              </a:rPr>
              <a:t>增长权重给到 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2779776"/>
            <a:ext cx="39319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只看最近 7 天对前 7 天。去年 1 亿播放、今天没人做的梗不会赖在榜首。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4032" y="3602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639312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FB3A5E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35844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00214"/>
                </a:solidFill>
                <a:latin typeface="Microsoft YaHei"/>
              </a:rPr>
              <a:t>样本太小就不外推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3950208"/>
            <a:ext cx="39319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前一周讨论量 &lt; 30 或样本视频 &lt; 3 条时增长率直接置空——考古区冒出一条视频不算 +100%。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14032" y="477316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4809744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100" b="1">
                <a:solidFill>
                  <a:srgbClr val="FB3A5E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4754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00214"/>
                </a:solidFill>
                <a:latin typeface="Microsoft YaHei"/>
              </a:rPr>
              <a:t>人工改不到分数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5120640"/>
            <a:ext cx="39319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封面、介绍、别名、关键词可以人工维护；热度、阶段、赶梗结论只由算法产出，接口层强制。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方法 · 生命周期与赶梗判断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同样是 80 分，一个在冲、一个在崩，结论就不能一样</a:t>
            </a:r>
          </a:p>
        </p:txBody>
      </p:sp>
      <p:pic>
        <p:nvPicPr>
          <p:cNvPr id="7" name="Picture 6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675120" cy="3036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261104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5E739F"/>
                </a:solidFill>
                <a:latin typeface="Microsoft YaHei"/>
              </a:rPr>
              <a:t>闪身步 09-13 起从零爬到 81（爆发期）；琵琶曲是脉冲型，冲高后 09-25 断崖；老叟戏顽童从 84 一路退到 52（退潮期）。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737360"/>
            <a:ext cx="4133087" cy="3072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90195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000214"/>
                </a:solidFill>
                <a:latin typeface="Microsoft YaHei"/>
              </a:rPr>
              <a:t>六个阶段，规则自上而下匹配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2322576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1">
                <a:solidFill>
                  <a:srgbClr val="000214"/>
                </a:solidFill>
                <a:latin typeface="Microsoft YaHei"/>
              </a:rPr>
              <a:t>萌芽 → 上升 → 爆发 → 平稳 → 退潮 → 过气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判定只用四件事：增长率、距峰值差、连续下滑天数、活跃度。阈值全部集中在一个配置文件里，可复算、可讨论。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3767328"/>
            <a:ext cx="3602736" cy="859536"/>
          </a:xfrm>
          <a:prstGeom prst="roundRect">
            <a:avLst>
              <a:gd name="adj" fmla="val 9000"/>
            </a:avLst>
          </a:prstGeom>
          <a:solidFill>
            <a:srgbClr val="E5F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858768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019646"/>
                </a:solidFill>
                <a:latin typeface="Microsoft YaHei"/>
              </a:rPr>
              <a:t>赶梗三态由算法给：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还来得及 / 慎赶 / 你来晚了，附置信度与理由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37760"/>
            <a:ext cx="1106424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84064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>
                <a:solidFill>
                  <a:srgbClr val="000214"/>
                </a:solidFill>
                <a:latin typeface="Microsoft YaHei"/>
              </a:rPr>
              <a:t>LLM 在这里只干一件事：把算法已经定好的结论翻译成人话。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它不许改状态、不许预测。模型返回的 status 与算法不一致时以算法为准；文案里出现「预计」「未来 7 天」「一定会爆」这类预测口吻会被直接丢弃。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真实数据最好玩的部分：它脏得毫不讲理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四个我亲自踩出来的坑，每个都改掉了口径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55648"/>
            <a:ext cx="5394960" cy="18470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50292" cy="159105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836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假增长 +23,616%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860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第一版一次抓完再按天聚合，等于拿今天看到的播放量回填历史某一天。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906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FB3A5E"/>
                </a:solidFill>
                <a:latin typeface="Microsoft YaHei"/>
              </a:rPr>
              <a:t>修法  </a:t>
            </a:r>
            <a:r>
              <a:rPr sz="1150" b="0">
                <a:solidFill>
                  <a:srgbClr val="000214"/>
                </a:solidFill>
                <a:latin typeface="Microsoft YaHei"/>
              </a:rPr>
              <a:t>改成逐日带时间区间查询，只统计当天发布的头部内容。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755648"/>
            <a:ext cx="5394960" cy="18470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883664"/>
            <a:ext cx="50292" cy="1591056"/>
          </a:xfrm>
          <a:prstGeom prst="rect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8366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418 条样本里 343 条在讲黄豆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「我不是黄豆」的别名写成黄豆，于是琵琶曲黄豆版、炒黄豆、树叶做豆腐全被灌进来，该梗还挂着榜首。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906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D8AFE"/>
                </a:solidFill>
                <a:latin typeface="Microsoft YaHei"/>
              </a:rPr>
              <a:t>修法  </a:t>
            </a:r>
            <a:r>
              <a:rPr sz="1150" b="0">
                <a:solidFill>
                  <a:srgbClr val="000214"/>
                </a:solidFill>
                <a:latin typeface="Microsoft YaHei"/>
              </a:rPr>
              <a:t>短于 4 字的别名只算弱证据，必须再有第二个词佐证才能过阈值。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67328"/>
            <a:ext cx="5394960" cy="18470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895344"/>
            <a:ext cx="50292" cy="1591056"/>
          </a:xfrm>
          <a:prstGeom prst="rect">
            <a:avLst/>
          </a:prstGeom>
          <a:solidFill>
            <a:srgbClr val="01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8953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真梗被闸门挡在库外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2976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交集口径 90 天只剩 8 个梗，热度实测最高的闪身步（81.0）根本进不来。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10235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19646"/>
                </a:solidFill>
                <a:latin typeface="Microsoft YaHei"/>
              </a:rPr>
              <a:t>修法  </a:t>
            </a:r>
            <a:r>
              <a:rPr sz="1150" b="0">
                <a:solidFill>
                  <a:srgbClr val="000214"/>
                </a:solidFill>
                <a:latin typeface="Microsoft YaHei"/>
              </a:rPr>
              <a:t>准入改并集，认证窗口独立 90 天滚动，双 UP 降级为标签。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3767328"/>
            <a:ext cx="5394960" cy="18470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3895344"/>
            <a:ext cx="50292" cy="1591056"/>
          </a:xfrm>
          <a:prstGeom prst="rect">
            <a:avLst/>
          </a:prstGeom>
          <a:solidFill>
            <a:srgbClr val="C88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8953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刷新把数据刷薄了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976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同一个词同一天两次返回的头部 20 条差很远：琵琶曲 4 天 / 3,976 万播放被刷成 1 天 / 18 条，热度 44.2 → 0.0。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10235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C88A14"/>
                </a:solidFill>
                <a:latin typeface="Microsoft YaHei"/>
              </a:rPr>
              <a:t>修法  </a:t>
            </a:r>
            <a:r>
              <a:rPr sz="1150" b="0">
                <a:solidFill>
                  <a:srgbClr val="000214"/>
                </a:solidFill>
                <a:latin typeface="Microsoft YaHei"/>
              </a:rPr>
              <a:t>同一天只保留更好的一次观测（比样本数与播放量，绝不相加），并从快照回填 53 天。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4593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B0BAD0"/>
                </a:solidFill>
                <a:latin typeface="Microsoft YaHei"/>
              </a:rPr>
              <a:t>这四个坑都不是会报错的那种，而是口径错了但每个数都算得出来——最难查的一类。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0D8AFE"/>
                </a:solidFill>
                <a:latin typeface="Microsoft YaHei"/>
              </a:rPr>
              <a:t>把直觉拿去跟数据对一遍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「解说破百万才值得做」？我拿 31 个样本验了一遍</a:t>
            </a:r>
          </a:p>
        </p:txBody>
      </p:sp>
      <p:pic>
        <p:nvPicPr>
          <p:cNvPr id="7" name="Picture 6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56816"/>
            <a:ext cx="6309360" cy="32106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755648"/>
            <a:ext cx="4315968" cy="2066543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52944" y="1920240"/>
            <a:ext cx="3840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300" b="1">
                <a:solidFill>
                  <a:srgbClr val="000214"/>
                </a:solidFill>
                <a:latin typeface="Microsoft YaHei"/>
              </a:rPr>
              <a:t>Pearson r = +0.40（p = 0.028）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秩相关 ρ = +0.29（p = 0.12，不显著）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播放量能解释的热度方差约 16%。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那个数字量的是 UP 主自己的粉丝盘，还是发布时刻的存量；梗的生命周期在它之后才展开。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968496"/>
            <a:ext cx="4315968" cy="2029968"/>
          </a:xfrm>
          <a:prstGeom prst="roundRect">
            <a:avLst>
              <a:gd name="adj" fmla="val 9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4114800"/>
            <a:ext cx="3840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300" b="1">
                <a:solidFill>
                  <a:srgbClr val="FB3A5E"/>
                </a:solidFill>
                <a:latin typeface="Microsoft YaHei"/>
              </a:rPr>
              <a:t>两个致命反例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0">
                <a:solidFill>
                  <a:srgbClr val="000214"/>
                </a:solidFill>
                <a:latin typeface="Microsoft YaHei"/>
              </a:rPr>
              <a:t>闪身步：解说只有 64.6 万 → 该梗热度 81.0，当前榜首。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200" b="0">
                <a:solidFill>
                  <a:srgbClr val="000214"/>
                </a:solidFill>
                <a:latin typeface="Microsoft YaHei"/>
              </a:rPr>
              <a:t>宗主第二招：解说 160.7 万 → 该梗热度 0.0，30 天里只有 2 天有内容。</a:t>
            </a:r>
          </a:p>
          <a:p>
            <a:pPr algn="l">
              <a:lnSpc>
                <a:spcPct val="124000"/>
              </a:lnSpc>
              <a:spcAft>
                <a:spcPts val="2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结论：播放量门槛会同时漏掉最热的、收进最凉的。它只适合当采集成本的预算筛，不能当准入判据。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01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019646"/>
                </a:solidFill>
                <a:latin typeface="Microsoft YaHei"/>
              </a:rPr>
              <a:t>当前结果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31 个真梗在榜：热度接近的三个，赶梗结论完全不同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92224"/>
            <a:ext cx="8595360" cy="420624"/>
          </a:xfrm>
          <a:prstGeom prst="roundRect">
            <a:avLst>
              <a:gd name="adj" fmla="val 9000"/>
            </a:avLst>
          </a:prstGeom>
          <a:solidFill>
            <a:srgbClr val="000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83664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18836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梗名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1883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热度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83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3" y="188366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赶梗结论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188366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认证标签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12848"/>
            <a:ext cx="8595360" cy="38404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281428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000214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28142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闪身步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2814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B3A5E"/>
                </a:solidFill>
                <a:latin typeface="Microsoft YaHei"/>
              </a:rPr>
              <a:t>81.0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2814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爆发期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583" y="228142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28142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梗百科认证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596896"/>
            <a:ext cx="85953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665476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000214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266547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耍起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26654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B3A5E"/>
                </a:solidFill>
                <a:latin typeface="Microsoft YaHei"/>
              </a:rPr>
              <a:t>69.5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26654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5583" y="26654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6654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梗指南认证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980944"/>
            <a:ext cx="8595360" cy="38404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049524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000214"/>
                </a:solidFill>
                <a:latin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304952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野生狗奶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9584" y="30495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B3A5E"/>
                </a:solidFill>
                <a:latin typeface="Microsoft YaHei"/>
              </a:rPr>
              <a:t>69.0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304952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3" y="30495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2944" y="30495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双 UP 认证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364991"/>
            <a:ext cx="85953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3433572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000214"/>
                </a:solidFill>
                <a:latin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3584" y="34335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牛来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9584" y="343357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B3A5E"/>
                </a:solidFill>
                <a:latin typeface="Microsoft YaHei"/>
              </a:rPr>
              <a:t>56.7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34335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3" y="343357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慎赶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52944" y="343357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双 UP 认证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3749039"/>
            <a:ext cx="8595360" cy="38404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3817620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000214"/>
                </a:solidFill>
                <a:latin typeface="Microsoft YaHe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3584" y="38176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雨中霸王龙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9584" y="38176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B3A5E"/>
                </a:solidFill>
                <a:latin typeface="Microsoft YaHei"/>
              </a:rPr>
              <a:t>53.6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5424" y="38176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5583" y="38176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52944" y="38176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梗指南认证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4133087"/>
            <a:ext cx="85953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4201668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000214"/>
                </a:solidFill>
                <a:latin typeface="Microsoft YaHe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43584" y="420166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老叟戏顽童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9584" y="420166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B3A5E"/>
                </a:solidFill>
                <a:latin typeface="Microsoft YaHei"/>
              </a:rPr>
              <a:t>52.5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35424" y="42016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退潮期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15583" y="420166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你来晚了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52944" y="420166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双 UP 认证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4517136"/>
            <a:ext cx="8595360" cy="384048"/>
          </a:xfrm>
          <a:prstGeom prst="roundRect">
            <a:avLst>
              <a:gd name="adj" fmla="val 9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4585716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000214"/>
                </a:solidFill>
                <a:latin typeface="Microsoft YaHe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3584" y="458571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大狗叫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9584" y="45857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B3A5E"/>
                </a:solidFill>
                <a:latin typeface="Microsoft YaHei"/>
              </a:rPr>
              <a:t>47.0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5424" y="45857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15583" y="458571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52944" y="458571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梗百科认证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4901183"/>
            <a:ext cx="85953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" y="4969764"/>
            <a:ext cx="365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000214"/>
                </a:solidFill>
                <a:latin typeface="Microsoft YaHei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43584" y="49697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琵琶曲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29584" y="49697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FB3A5E"/>
                </a:solidFill>
                <a:latin typeface="Microsoft YaHei"/>
              </a:rPr>
              <a:t>44.2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35424" y="49697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退潮期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5583" y="496976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你来晚了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52944" y="496976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双 UP 认证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040112" y="1792224"/>
            <a:ext cx="1591056" cy="3493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86416" y="1938528"/>
            <a:ext cx="1371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1">
                <a:solidFill>
                  <a:srgbClr val="000214"/>
                </a:solidFill>
                <a:latin typeface="Microsoft YaHei"/>
              </a:rPr>
              <a:t>阶段分布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爆发 1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上升 5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平稳 1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萌芽 2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退潮 5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1">
                <a:solidFill>
                  <a:srgbClr val="FB3A5E"/>
                </a:solidFill>
                <a:latin typeface="Microsoft YaHei"/>
              </a:rPr>
              <a:t>过气 17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400" b="0">
                <a:solidFill>
                  <a:srgbClr val="000214"/>
                </a:solidFill>
                <a:latin typeface="Microsoft YaHei"/>
              </a:rPr>
              <a:t/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00" b="0">
                <a:solidFill>
                  <a:srgbClr val="5E739F"/>
                </a:solidFill>
                <a:latin typeface="Microsoft YaHei"/>
              </a:rPr>
              <a:t>过气仍占位，是下一步要解决的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6928" y="5431536"/>
            <a:ext cx="110642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" y="554126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同一批投稿、同一套算法，只把准入从交集换成并集：</a:t>
            </a:r>
            <a:r>
              <a:rPr sz="1350" b="1">
                <a:solidFill>
                  <a:srgbClr val="FB3A5E"/>
                </a:solidFill>
                <a:latin typeface="Microsoft YaHei"/>
              </a:rPr>
              <a:t>可分析的梗 8 → 51 个，榜单 31 个真梗，演示数据 0 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01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019646"/>
                </a:solidFill>
                <a:latin typeface="Microsoft YaHei"/>
              </a:rPr>
              <a:t>怎么知道结果可信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验证不是跑通了，是错了会被发现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26517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019646"/>
                </a:solidFill>
                <a:latin typeface="Microsoft YaHei"/>
              </a:rPr>
              <a:t>162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77439"/>
            <a:ext cx="22494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单元与集成测试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050" b="0">
                <a:solidFill>
                  <a:srgbClr val="5E739F"/>
                </a:solidFill>
                <a:latin typeface="Microsoft YaHei"/>
              </a:rPr>
              <a:t>算法、闸门、接口都覆盖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517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883664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019646"/>
                </a:solidFill>
                <a:latin typeface="Microsoft YaHei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377439"/>
            <a:ext cx="22494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接口冒烟项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050" b="0">
                <a:solidFill>
                  <a:srgbClr val="5E739F"/>
                </a:solidFill>
                <a:latin typeface="Microsoft YaHei"/>
              </a:rPr>
              <a:t>对着真实数据的后端逐项校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37360"/>
            <a:ext cx="265176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83664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019646"/>
                </a:solidFill>
                <a:latin typeface="Microsoft YaHe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39"/>
            <a:ext cx="22494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混进榜单的演示数据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050" b="0">
                <a:solidFill>
                  <a:srgbClr val="5E739F"/>
                </a:solidFill>
                <a:latin typeface="Microsoft YaHei"/>
              </a:rPr>
              <a:t>真实模式闸门强制隔离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984" y="1737360"/>
            <a:ext cx="2615184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883664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500" b="1">
                <a:solidFill>
                  <a:srgbClr val="C88A14"/>
                </a:solidFill>
                <a:latin typeface="Microsoft YaHei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2377439"/>
            <a:ext cx="22128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200" b="0">
                <a:solidFill>
                  <a:srgbClr val="5E739F"/>
                </a:solidFill>
                <a:latin typeface="Microsoft YaHei"/>
              </a:rPr>
              <a:t>入池但采空的梗</a:t>
            </a:r>
          </a:p>
          <a:p>
            <a:pPr algn="l">
              <a:lnSpc>
                <a:spcPct val="116000"/>
              </a:lnSpc>
              <a:spcAft>
                <a:spcPts val="100"/>
              </a:spcAft>
            </a:pPr>
            <a:r>
              <a:rPr sz="1050" b="0">
                <a:solidFill>
                  <a:srgbClr val="5E739F"/>
                </a:solidFill>
                <a:latin typeface="Microsoft YaHei"/>
              </a:rPr>
              <a:t>如实显示暂无数据，不补零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218688"/>
            <a:ext cx="5394960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364992"/>
            <a:ext cx="50292" cy="1024127"/>
          </a:xfrm>
          <a:prstGeom prst="rect">
            <a:avLst/>
          </a:prstGeom>
          <a:solidFill>
            <a:srgbClr val="01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口径写进界面，不写进说明书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785615"/>
            <a:ext cx="4846320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「当日播放量 = 该日头部 20 条相关视频合计」「统计截至 09-27，滞后 1 天」这类话直接显示在产品上，用户不用先读文档才知道数字怎么来的。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3218688"/>
            <a:ext cx="5394960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3364992"/>
            <a:ext cx="50292" cy="1024127"/>
          </a:xfrm>
          <a:prstGeom prst="rect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3383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演示数据必须自报家门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785615"/>
            <a:ext cx="4846320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系统留了一套演示梗库用来跑通全流程，但它永远带「演示数据」标记，真实模式下不进榜——自记自认的认证位不算证据。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5394960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828032"/>
            <a:ext cx="50292" cy="1024127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8463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能抽查到每一条视频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5248656"/>
            <a:ext cx="4846320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每个梗都列出采信了哪些样本、各自相关性得分多少、命中哪个词，觉得数不对，可以直接点进去看 BV 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4681728"/>
            <a:ext cx="5394960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54496" y="4828032"/>
            <a:ext cx="50292" cy="1024127"/>
          </a:xfrm>
          <a:prstGeom prst="rect">
            <a:avLst/>
          </a:prstGeom>
          <a:solidFill>
            <a:srgbClr val="54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48463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50" b="1">
                <a:solidFill>
                  <a:srgbClr val="000214"/>
                </a:solidFill>
                <a:latin typeface="Microsoft YaHei"/>
              </a:rPr>
              <a:t>幂等与回归锁死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5248656"/>
            <a:ext cx="4846320" cy="585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重算不改变榜单（同输入同输出）；改封面改介绍不会改动任何指标——接口测试专门锁了这条。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146304" cy="146304"/>
          </a:xfrm>
          <a:prstGeom prst="rect">
            <a:avLst/>
          </a:prstGeom>
          <a:solidFill>
            <a:srgbClr val="54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7863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546F98"/>
                </a:solidFill>
                <a:latin typeface="Microsoft YaHei"/>
              </a:rPr>
              <a:t>局限 · 下一步 · 时间计划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005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50" b="1">
                <a:solidFill>
                  <a:srgbClr val="B0BAD0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9536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000214"/>
                </a:solidFill>
                <a:latin typeface="Microsoft YaHei"/>
              </a:rPr>
              <a:t>我知道它现在哪里不准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55648"/>
            <a:ext cx="685800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47088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000214"/>
                </a:solidFill>
                <a:latin typeface="Microsoft YaHei"/>
              </a:rPr>
              <a:t>脉冲型梗会误判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160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E739F"/>
                </a:solidFill>
                <a:latin typeface="Microsoft YaHei"/>
              </a:rPr>
              <a:t>琵琶曲 30 天只有 4 天有内容，那天却播了 3,976 万；只看天数的门槛会判死它。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176272"/>
            <a:ext cx="21579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19646"/>
                </a:solidFill>
                <a:latin typeface="Microsoft YaHei"/>
              </a:rPr>
              <a:t>上榜层改双条件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88336"/>
            <a:ext cx="685800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79776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000214"/>
                </a:solidFill>
                <a:latin typeface="Microsoft YaHei"/>
              </a:rPr>
              <a:t>过气梗仍占榜单位置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08960"/>
            <a:ext cx="4160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E739F"/>
                </a:solidFill>
                <a:latin typeface="Microsoft YaHei"/>
              </a:rPr>
              <a:t>榜上 17 个热度 0.0 的梗，占了「今天玩什么」的位置。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108960"/>
            <a:ext cx="21579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19646"/>
                </a:solidFill>
                <a:latin typeface="Microsoft YaHei"/>
              </a:rPr>
              <a:t>过气不出榜，另归考古区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621024"/>
            <a:ext cx="685800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712463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000214"/>
                </a:solidFill>
                <a:latin typeface="Microsoft YaHei"/>
              </a:rPr>
              <a:t>深翻页受平台风控限制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041648"/>
            <a:ext cx="4160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E739F"/>
                </a:solidFill>
                <a:latin typeface="Microsoft YaHei"/>
              </a:rPr>
              <a:t>空间投稿接口匿名只稳定给最近约 50 条，更早的要 Cookie。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41648"/>
            <a:ext cx="21579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19646"/>
                </a:solidFill>
                <a:latin typeface="Microsoft YaHei"/>
              </a:rPr>
              <a:t>换指纹重试 + 索引缓存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53712"/>
            <a:ext cx="685800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45152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50" b="1">
                <a:solidFill>
                  <a:srgbClr val="000214"/>
                </a:solidFill>
                <a:latin typeface="Microsoft YaHei"/>
              </a:rPr>
              <a:t>刷新还是手动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974336"/>
            <a:ext cx="4160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E739F"/>
                </a:solidFill>
                <a:latin typeface="Microsoft YaHei"/>
              </a:rPr>
              <a:t>全库一轮 51 个梗约 30~45 分钟，没有调度器。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974336"/>
            <a:ext cx="21579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19646"/>
                </a:solidFill>
                <a:latin typeface="Microsoft YaHei"/>
              </a:rPr>
              <a:t>每日增量 + 单梗重采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755648"/>
            <a:ext cx="3950208" cy="3566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CF0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192024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000214"/>
                </a:solidFill>
                <a:latin typeface="Microsoft YaHei"/>
              </a:rPr>
              <a:t>剩余时间计划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23774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1-2 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37744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上榜层口径重做：过气不出榜、脉冲型梗单独处理；补一组对照实验。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8704" y="31272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3 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12724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增量刷新与调度；把采空的梗用别名兜底再跑一轮。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387705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4 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3877056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用户实验：20 人对照看热搜与看本系统的选题准确率差异。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46268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5 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462686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写论文与图表：阶段判定混淆矩阵、热度与人工标注的一致性检验。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541264"/>
            <a:ext cx="11064240" cy="566928"/>
          </a:xfrm>
          <a:prstGeom prst="roundRect">
            <a:avLst>
              <a:gd name="adj" fmla="val 9000"/>
            </a:avLst>
          </a:prstGeom>
          <a:solidFill>
            <a:srgbClr val="000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65099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我想做的不是热搜的复读机，而是热点的倒计时器。</a:t>
            </a:r>
            <a:r>
              <a:rPr sz="1150" b="0">
                <a:solidFill>
                  <a:srgbClr val="B0BAD0"/>
                </a:solidFill>
                <a:latin typeface="Microsoft YaHei"/>
              </a:rPr>
              <a:t>    现场可演示：127.0.0.1:5173（真实数据，非样例）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