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30 秒讲完，不要念标题。</a:t>
            </a:r>
          </a:p>
          <a:p>
            <a:r>
              <a:t>重点是把三段的顺序说清楚：能证明的 → 没做完的 → 不打算做的。先声明「我不会拿没做的冒充结果」，后面整场会轻很多。</a:t>
            </a:r>
          </a:p>
          <a:p>
            <a:r>
              <a:t>结论那句话里的 85 / 35 / 20 是本次答辩的主干数字，分别对应「记录数」「真实且已核验」「过门槛上榜」。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这一页就是「结论」。讲三个数，不要念表格。</a:t>
            </a:r>
          </a:p>
          <a:p>
            <a:r>
              <a:t>20 = 最终上榜数；76.8 = 榜首热度；55.4% = 平均观测覆盖度。</a:t>
            </a:r>
          </a:p>
          <a:p>
            <a:r>
              <a:t>特别解释第 4 个数（33 个「数据不足」）：这是本系统的一个主动选择——观测不足就拒答，而不是硬给一个阶段。</a:t>
            </a:r>
          </a:p>
          <a:p>
            <a:r>
              <a:t>表格可以留给老师自己看，如果现场断网它就是兜底。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先讲「数据是真的」，再讲「怎么变少」。</a:t>
            </a:r>
          </a:p>
          <a:p>
            <a:r>
              <a:t>数字全部可以现查：videos / meme_daily_stats / meme_certifications 三张表。</a:t>
            </a:r>
          </a:p>
          <a:p>
            <a:r>
              <a:t>如果老师问「为什么只有 20 个上榜」：把三层口径背下来（85→71→35→20），每一层的理由一句话讲清。这比说「数据还不够多」有说服力得多。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讲四件事，不要念公式。</a:t>
            </a:r>
          </a:p>
          <a:p>
            <a:r>
              <a:t>如果老师质疑权重主观：坦白说初始权重来自设计判断，这次答辩给不出消融实验结果（第 10 页有空白面板），但已有两条硬约束——对数区间归一化让量级不吃掉权重、样本不足不外推。</a:t>
            </a:r>
          </a:p>
          <a:p>
            <a:r>
              <a:t>「算法与文案分离」这一条要强调：它保证了大模型坏掉时产品不坏。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这一页的主角是「33 个数据不足」，不是那六个阶段。</a:t>
            </a:r>
          </a:p>
          <a:p>
            <a:r>
              <a:t>讲清一件事：「没看见」不等于「没有」。早期版本给窗口里每一天无条件写一行，空壳变成 video_count=0，跟「当天真没人做」在库里长得一样——「琵琶曲」被判「退潮」就是这么来的。</a:t>
            </a:r>
          </a:p>
          <a:p>
            <a:r>
              <a:t>覆盖度图：浅色柱是「当天有记录的梗数」，深色柱是「真正观测到的」，中间那段就是缺口，我们不把它画成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这页是本次答辩的「高光页」，讲出过程比讲结论重要。</a:t>
            </a:r>
          </a:p>
          <a:p>
            <a:r>
              <a:t>顺序：我先立假设 → 拿 31 个上榜梗检验 → Pearson 显著但 Spearman 不显著 → R² 只有 0.16 → 反例方向相反 → 判据被推翻 → 我改了准入口径。</a:t>
            </a:r>
          </a:p>
          <a:p>
            <a:r>
              <a:t>如果老师问「为什么不做更大样本」：n = 31 是当时上热榜的梗数，确实小，这一点写在局限里；等数据积累后可复算。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全场最重要的一页，讲慢。</a:t>
            </a:r>
          </a:p>
          <a:p>
            <a:r>
              <a:t>每一条都按「症状 → 现象 → 诊断 → 处方」讲，现象里带可报出来的数字。</a:t>
            </a:r>
          </a:p>
          <a:p>
            <a:r>
              <a:t>如果老师问「这是工程问题还是科学问题」：这是测量问题——在上游测不准的前提下，怎么构造一个稳定、可复算的观测量，属于方法贡献。</a:t>
            </a:r>
          </a:p>
          <a:p>
            <a:r>
              <a:t>最后两个实测细节用来证明「这些都是真跑出来的，不是想出来的」。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这一页的作用是「我确实做过验证」，但不要夸大。</a:t>
            </a:r>
          </a:p>
          <a:p>
            <a:r>
              <a:t>第①项是判据证伪，第②项是观测策略的覆盖率，第③项是门槛消融——注意第③项是规则层消融，不是权重消融，措辞上要说准，别让老师以为权重也做了。</a:t>
            </a:r>
          </a:p>
          <a:p>
            <a:r>
              <a:t>如果老师追问权重消融：直接说「没做，在下一页的空白面板里」。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这一页必须讲得坦荡，不要心虚。</a:t>
            </a:r>
          </a:p>
          <a:p>
            <a:r>
              <a:t>开场就说：这四块是空的，我画成空白面板而不是删掉，就是想让大家知道缺口在哪。</a:t>
            </a:r>
          </a:p>
          <a:p>
            <a:r>
              <a:t>这四块正好覆盖评委最常问的四组数字，主动交底可以避免被追着问。</a:t>
            </a:r>
          </a:p>
          <a:p>
            <a:r>
              <a:t>如果有人愿意给建议（比如标注方案怎么设计），当场记下来。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这一页是给「这不是个课程作业网站吗」这个问题准备的答案。</a:t>
            </a:r>
          </a:p>
          <a:p>
            <a:r>
              <a:t>重点讲左边那六条断言——它们说明「口径」不是写在文档里的，是被测试守着的。</a:t>
            </a:r>
          </a:p>
          <a:p>
            <a:r>
              <a:t>如果现场有网有环境，可以跑一次 pytest；没环境就报数字并说明命令。</a:t>
            </a:r>
          </a:p>
          <a:p>
            <a:r>
              <a:t>右边讲 AI 降级：这是产品设计的一部分，不是容错补丁。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主动拆自己，让老师没有可拆的地方。</a:t>
            </a:r>
          </a:p>
          <a:p>
            <a:r>
              <a:t>第 4 条要讲出取舍的口气：我知道它偏，但改它会推翻前面所有结论，所以先修可信度——这是一个工程判断，不是没想到。</a:t>
            </a:r>
          </a:p>
          <a:p>
            <a:r>
              <a:t>如果老师认为应该改：接受，并说明改动范围（全部榜单与赶梗结论需重算）。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这一页讲「我接下来会怎么走」，也是给课题续命的理由。</a:t>
            </a:r>
          </a:p>
          <a:p>
            <a:r>
              <a:t>最后那个「半衰期」的问题很有价值：它是本课题的自然延伸，但它越过了我自己划的边界——把这个张力讲出来，比直接说「以后做预测」成熟得多。</a:t>
            </a:r>
          </a:p>
          <a:p>
            <a:r>
              <a:t>如果老师建议做预测：回应「需要先补样本与评估方案」，不要当场承诺。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收尾只做两件事：把核心立场再讲一遍，然后明确请老师看哪两处。</a:t>
            </a:r>
          </a:p>
          <a:p>
            <a:r>
              <a:t>不要总结技术细节——那些前面都讲过了。</a:t>
            </a:r>
          </a:p>
          <a:p>
            <a:r>
              <a:t>最后一句「都可以当场翻」很有用：它把整场的可信度押在可验证性上，也顺势把提问引到我准备过的地方。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5120640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FB3A5E"/>
                </a:solidFill>
                <a:latin typeface="Microsoft YaHei"/>
              </a:rPr>
              <a:t>数据科学课程 · 结题答辩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9264"/>
            <a:ext cx="8595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14161F"/>
                </a:solidFill>
                <a:latin typeface="KaiTi"/>
              </a:rPr>
              <a:t>梗会凉，账要算清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1737360" cy="68580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231136"/>
            <a:ext cx="8229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00" b="1" i="0">
                <a:solidFill>
                  <a:srgbClr val="3C5989"/>
                </a:solidFill>
                <a:latin typeface="Microsoft YaHei"/>
              </a:rPr>
              <a:t>赶梗潮：B 站网络梗热度与生命周期分析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98064"/>
            <a:ext cx="7863840" cy="2121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B7C9C"/>
                </a:solidFill>
                <a:latin typeface="Microsoft YaHei"/>
              </a:rPr>
              <a:t>一句话结论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50" b="1" i="0">
                <a:solidFill>
                  <a:srgbClr val="14161F"/>
                </a:solidFill>
                <a:latin typeface="Microsoft YaHei"/>
              </a:rPr>
              <a:t>「梗」可以做成一个可复算的时间序列对象：85 条记录 → 35 个通过核验 → 20 个上榜，每一步的丢人原因都能列出来。</a:t>
            </a:r>
          </a:p>
          <a:p>
            <a:pPr algn="l">
              <a:lnSpc>
                <a:spcPct val="122000"/>
              </a:lnSpc>
              <a:spcBef>
                <a:spcPts val="800"/>
              </a:spcBef>
            </a:pPr>
            <a:r>
              <a:rPr sz="1350" b="1" i="0">
                <a:solidFill>
                  <a:srgbClr val="FB3A5E"/>
                </a:solidFill>
                <a:latin typeface="Microsoft YaHei"/>
              </a:rPr>
              <a:t>而最有价值的部分，是我用真实数据推翻了自己的一个判据（第 9 页）。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290779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200" b="1" i="0">
                <a:solidFill>
                  <a:srgbClr val="14161F"/>
                </a:solidFill>
                <a:latin typeface="KaiTi"/>
              </a:rPr>
              <a:t>今天，赶什么梗？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78240" y="5358384"/>
            <a:ext cx="2834640" cy="1463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15984" y="5522976"/>
            <a:ext cx="235915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70" b="1" i="0">
                <a:solidFill>
                  <a:srgbClr val="14161F"/>
                </a:solidFill>
                <a:latin typeface="Microsoft YaHei"/>
              </a:rPr>
              <a:t>汇报人　＿＿＿＿＿＿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170" b="0" i="0">
                <a:solidFill>
                  <a:srgbClr val="14161F"/>
                </a:solidFill>
                <a:latin typeface="Microsoft YaHei"/>
              </a:rPr>
              <a:t>学　号　＿＿＿＿＿＿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1170" b="0" i="0">
                <a:solidFill>
                  <a:srgbClr val="14161F"/>
                </a:solidFill>
                <a:latin typeface="Microsoft YaHei"/>
              </a:rPr>
              <a:t>指导教师　＿＿＿＿＿＿</a:t>
            </a:r>
          </a:p>
          <a:p>
            <a:pPr algn="l">
              <a:lnSpc>
                <a:spcPct val="122000"/>
              </a:lnSpc>
              <a:spcBef>
                <a:spcPts val="700"/>
              </a:spcBef>
            </a:pPr>
            <a:r>
              <a:rPr sz="950" b="0" i="0">
                <a:solidFill>
                  <a:srgbClr val="6B7C9C"/>
                </a:solidFill>
                <a:latin typeface="Microsoft YaHei"/>
              </a:rPr>
              <a:t>＿＿＿＿ 年 ＿＿ 月 ＿＿ 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358384"/>
            <a:ext cx="7863840" cy="1463040"/>
          </a:xfrm>
          <a:prstGeom prst="roundRect">
            <a:avLst>
              <a:gd name="adj" fmla="val 5500"/>
            </a:avLst>
          </a:prstGeom>
          <a:solidFill>
            <a:srgbClr val="FF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495544"/>
            <a:ext cx="7278624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4161F"/>
                </a:solidFill>
                <a:latin typeface="Microsoft YaHei"/>
              </a:rPr>
              <a:t>这份答辩分三段：先给能证明的，再给还没做完的，最后给不打算做的。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0">
                <a:solidFill>
                  <a:srgbClr val="6B7C9C"/>
                </a:solidFill>
                <a:latin typeface="Microsoft YaHei"/>
              </a:rPr>
              <a:t>还没做完的（混淆矩阵、权重消融、用户实验）在第 10 页，画成了空白面板，我不会拿它们冒充结果。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数据截至 2026-09-28，真实抓取；演示梗单独标注、不进真实榜单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结论先行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三个数说清这个系统今天算出了什么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三个数不是同一个东西的三次说法——它们是三层口径收紧之后的结果。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2634157" cy="14447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45920"/>
            <a:ext cx="2158669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990" b="1" i="0">
                <a:solidFill>
                  <a:srgbClr val="FB3A5E"/>
                </a:solidFill>
                <a:latin typeface="Microsoft YaHei"/>
              </a:rPr>
              <a:t>20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060" b="1" i="0">
                <a:solidFill>
                  <a:srgbClr val="14161F"/>
                </a:solidFill>
                <a:latin typeface="Microsoft YaHei"/>
              </a:rPr>
              <a:t>个梗上了热榜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80" b="0" i="0">
                <a:solidFill>
                  <a:srgbClr val="6B7C9C"/>
                </a:solidFill>
                <a:latin typeface="Microsoft YaHei"/>
              </a:rPr>
              <a:t>从 85 条记录里筛出来的最终结果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4821" y="1463040"/>
            <a:ext cx="2634157" cy="14447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2565" y="1645920"/>
            <a:ext cx="2158669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990" b="1" i="0">
                <a:solidFill>
                  <a:srgbClr val="FB3A5E"/>
                </a:solidFill>
                <a:latin typeface="Microsoft YaHei"/>
              </a:rPr>
              <a:t>76.8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060" b="1" i="0">
                <a:solidFill>
                  <a:srgbClr val="14161F"/>
                </a:solidFill>
                <a:latin typeface="Microsoft YaHei"/>
              </a:rPr>
              <a:t>榜首热度（闪身步）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80" b="0" i="0">
                <a:solidFill>
                  <a:srgbClr val="6B7C9C"/>
                </a:solidFill>
                <a:latin typeface="Microsoft YaHei"/>
              </a:rPr>
              <a:t>爆发期 · 还来得及 · 置信度 0.95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2715" y="1463040"/>
            <a:ext cx="2634157" cy="14447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0459" y="1645920"/>
            <a:ext cx="2158669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990" b="1" i="0">
                <a:solidFill>
                  <a:srgbClr val="3C5989"/>
                </a:solidFill>
                <a:latin typeface="Microsoft YaHei"/>
              </a:rPr>
              <a:t>55.4%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060" b="1" i="0">
                <a:solidFill>
                  <a:srgbClr val="14161F"/>
                </a:solidFill>
                <a:latin typeface="Microsoft YaHei"/>
              </a:rPr>
              <a:t>平均观测覆盖度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80" b="0" i="0">
                <a:solidFill>
                  <a:srgbClr val="6B7C9C"/>
                </a:solidFill>
                <a:latin typeface="Microsoft YaHei"/>
              </a:rPr>
              <a:t>近 7 天窗口里真正采到数据的天数占比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0609" y="1463040"/>
            <a:ext cx="2634157" cy="14447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28353" y="1645920"/>
            <a:ext cx="2158669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990" b="1" i="0">
                <a:solidFill>
                  <a:srgbClr val="B97B0A"/>
                </a:solidFill>
                <a:latin typeface="Microsoft YaHei"/>
              </a:rPr>
              <a:t>33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060" b="1" i="0">
                <a:solidFill>
                  <a:srgbClr val="14161F"/>
                </a:solidFill>
                <a:latin typeface="Microsoft YaHei"/>
              </a:rPr>
              <a:t>个梗被判「数据不足」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80" b="0" i="0">
                <a:solidFill>
                  <a:srgbClr val="6B7C9C"/>
                </a:solidFill>
                <a:latin typeface="Microsoft YaHei"/>
              </a:rPr>
              <a:t>不是算不出来，是不肯硬算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108960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3C5989"/>
                </a:solidFill>
                <a:latin typeface="Microsoft YaHei"/>
              </a:rPr>
              <a:t>当前热榜前 8（全部来自真实采集，可在库里逐条复核）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438144"/>
            <a:ext cx="777240" cy="365760"/>
          </a:xfrm>
          <a:prstGeom prst="roundRect">
            <a:avLst>
              <a:gd name="adj" fmla="val 10000"/>
            </a:avLst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3502152"/>
            <a:ext cx="5577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</a:rPr>
              <a:t>名次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438144"/>
            <a:ext cx="2331720" cy="365760"/>
          </a:xfrm>
          <a:prstGeom prst="roundRect">
            <a:avLst>
              <a:gd name="adj" fmla="val 10000"/>
            </a:avLst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81328" y="3502152"/>
            <a:ext cx="21122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</a:rPr>
              <a:t>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30752" y="3438144"/>
            <a:ext cx="1143000" cy="365760"/>
          </a:xfrm>
          <a:prstGeom prst="roundRect">
            <a:avLst>
              <a:gd name="adj" fmla="val 10000"/>
            </a:avLst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3502152"/>
            <a:ext cx="9235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</a:rPr>
              <a:t>热度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01184" y="3438144"/>
            <a:ext cx="1463040" cy="365760"/>
          </a:xfrm>
          <a:prstGeom prst="roundRect">
            <a:avLst>
              <a:gd name="adj" fmla="val 10000"/>
            </a:avLst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10912" y="3502152"/>
            <a:ext cx="12435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</a:rPr>
              <a:t>阶段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91656" y="3438144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3502152"/>
            <a:ext cx="13807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</a:rPr>
              <a:t>赶梗判断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9288" y="3438144"/>
            <a:ext cx="1188720" cy="365760"/>
          </a:xfrm>
          <a:prstGeom prst="roundRect">
            <a:avLst>
              <a:gd name="adj" fmla="val 10000"/>
            </a:avLst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29015" y="3502152"/>
            <a:ext cx="96926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</a:rPr>
              <a:t>置信度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3438144"/>
            <a:ext cx="2368296" cy="365760"/>
          </a:xfrm>
          <a:prstGeom prst="roundRect">
            <a:avLst>
              <a:gd name="adj" fmla="val 10000"/>
            </a:avLst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7" y="3502152"/>
            <a:ext cx="2148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FFFFF"/>
                </a:solidFill>
                <a:latin typeface="Microsoft YaHei"/>
              </a:rPr>
              <a:t>认证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840480"/>
            <a:ext cx="11036808" cy="3429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909060"/>
            <a:ext cx="5577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3909060"/>
            <a:ext cx="21122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闪身步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3909060"/>
            <a:ext cx="9235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B3A5E"/>
                </a:solidFill>
                <a:latin typeface="Microsoft YaHei"/>
              </a:rPr>
              <a:t>76.8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0912" y="3909060"/>
            <a:ext cx="1243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爆发期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1384" y="3909060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B3A5E"/>
                </a:solidFill>
                <a:latin typeface="Microsoft YaHei"/>
              </a:rPr>
              <a:t>还来得及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9015" y="3909060"/>
            <a:ext cx="9692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0.95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5167" y="3909060"/>
            <a:ext cx="2148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梗百科认证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201668"/>
            <a:ext cx="11036808" cy="342900"/>
          </a:xfrm>
          <a:prstGeom prst="roundRect">
            <a:avLst>
              <a:gd name="adj" fmla="val 5500"/>
            </a:avLst>
          </a:prstGeom>
          <a:solidFill>
            <a:srgbClr val="FAFBFD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4270248"/>
            <a:ext cx="5577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1328" y="4270248"/>
            <a:ext cx="21122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耍起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4270248"/>
            <a:ext cx="9235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B3A5E"/>
                </a:solidFill>
                <a:latin typeface="Microsoft YaHei"/>
              </a:rPr>
              <a:t>67.2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10912" y="4270248"/>
            <a:ext cx="1243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上升期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01384" y="4270248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B3A5E"/>
                </a:solidFill>
                <a:latin typeface="Microsoft YaHei"/>
              </a:rPr>
              <a:t>还来得及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29015" y="4270248"/>
            <a:ext cx="9692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0.95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45167" y="4270248"/>
            <a:ext cx="2148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梗百科认证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562856"/>
            <a:ext cx="11036808" cy="3429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4631436"/>
            <a:ext cx="5577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81328" y="4631436"/>
            <a:ext cx="21122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闹吃vs古振兴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0" y="4631436"/>
            <a:ext cx="9235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B3A5E"/>
                </a:solidFill>
                <a:latin typeface="Microsoft YaHei"/>
              </a:rPr>
              <a:t>54.6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10912" y="4631436"/>
            <a:ext cx="1243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上升期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01384" y="4631436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B3A5E"/>
                </a:solidFill>
                <a:latin typeface="Microsoft YaHei"/>
              </a:rPr>
              <a:t>慎赶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29015" y="4631436"/>
            <a:ext cx="9692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0.81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45167" y="4631436"/>
            <a:ext cx="2148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梗百科认证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" y="4924044"/>
            <a:ext cx="11036808" cy="342900"/>
          </a:xfrm>
          <a:prstGeom prst="roundRect">
            <a:avLst>
              <a:gd name="adj" fmla="val 5500"/>
            </a:avLst>
          </a:prstGeom>
          <a:solidFill>
            <a:srgbClr val="FAFBFD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" y="4992624"/>
            <a:ext cx="5577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81328" y="4992624"/>
            <a:ext cx="21122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琵琶曲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0" y="4992624"/>
            <a:ext cx="9235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B3A5E"/>
                </a:solidFill>
                <a:latin typeface="Microsoft YaHei"/>
              </a:rPr>
              <a:t>50.3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10912" y="4992624"/>
            <a:ext cx="1243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数据不足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01384" y="4992624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B3A5E"/>
                </a:solidFill>
                <a:latin typeface="Microsoft YaHei"/>
              </a:rPr>
              <a:t>说不准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29015" y="4992624"/>
            <a:ext cx="9692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0.00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45167" y="4992624"/>
            <a:ext cx="2148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双 UP 认证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6928" y="5285231"/>
            <a:ext cx="11036808" cy="3429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76656" y="5353812"/>
            <a:ext cx="5577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81328" y="5353812"/>
            <a:ext cx="21122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牛来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0" y="5353812"/>
            <a:ext cx="9235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B3A5E"/>
                </a:solidFill>
                <a:latin typeface="Microsoft YaHei"/>
              </a:rPr>
              <a:t>48.6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10912" y="5353812"/>
            <a:ext cx="1243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平稳期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01384" y="5353812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B3A5E"/>
                </a:solidFill>
                <a:latin typeface="Microsoft YaHei"/>
              </a:rPr>
              <a:t>慎赶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29015" y="5353812"/>
            <a:ext cx="9692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0.81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45167" y="5353812"/>
            <a:ext cx="2148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双 UP 认证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66928" y="5646419"/>
            <a:ext cx="11036808" cy="342900"/>
          </a:xfrm>
          <a:prstGeom prst="roundRect">
            <a:avLst>
              <a:gd name="adj" fmla="val 5500"/>
            </a:avLst>
          </a:prstGeom>
          <a:solidFill>
            <a:srgbClr val="FAFBFD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76656" y="5714999"/>
            <a:ext cx="5577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81328" y="5714999"/>
            <a:ext cx="21122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驾考宝典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40480" y="5714999"/>
            <a:ext cx="9235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B3A5E"/>
                </a:solidFill>
                <a:latin typeface="Microsoft YaHei"/>
              </a:rPr>
              <a:t>48.5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10912" y="5714999"/>
            <a:ext cx="1243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退潮期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01384" y="5714999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B3A5E"/>
                </a:solidFill>
                <a:latin typeface="Microsoft YaHei"/>
              </a:rPr>
              <a:t>你来晚了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29015" y="5714999"/>
            <a:ext cx="9692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0.92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45167" y="5714999"/>
            <a:ext cx="2148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双 UP 认证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66928" y="6007607"/>
            <a:ext cx="11036808" cy="3429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76656" y="6076187"/>
            <a:ext cx="5577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7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81328" y="6076187"/>
            <a:ext cx="21122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老叟戏顽童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840480" y="6076187"/>
            <a:ext cx="9235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B3A5E"/>
                </a:solidFill>
                <a:latin typeface="Microsoft YaHei"/>
              </a:rPr>
              <a:t>48.2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010912" y="6076187"/>
            <a:ext cx="1243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退潮期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01384" y="6076187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B3A5E"/>
                </a:solidFill>
                <a:latin typeface="Microsoft YaHei"/>
              </a:rPr>
              <a:t>你来晚了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29015" y="6076187"/>
            <a:ext cx="9692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0.92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45167" y="6076187"/>
            <a:ext cx="2148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双 UP 认证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66928" y="6368795"/>
            <a:ext cx="11036808" cy="342900"/>
          </a:xfrm>
          <a:prstGeom prst="roundRect">
            <a:avLst>
              <a:gd name="adj" fmla="val 5500"/>
            </a:avLst>
          </a:prstGeom>
          <a:solidFill>
            <a:srgbClr val="FAFBFD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6656" y="6437375"/>
            <a:ext cx="5577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481328" y="6437375"/>
            <a:ext cx="21122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verity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40480" y="6437375"/>
            <a:ext cx="9235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B3A5E"/>
                </a:solidFill>
                <a:latin typeface="Microsoft YaHei"/>
              </a:rPr>
              <a:t>48.2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10912" y="6437375"/>
            <a:ext cx="124358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退潮期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01384" y="6437375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FB3A5E"/>
                </a:solidFill>
                <a:latin typeface="Microsoft YaHei"/>
              </a:rPr>
              <a:t>你来晚了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29015" y="6437375"/>
            <a:ext cx="9692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0.88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45167" y="6437375"/>
            <a:ext cx="2148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050" b="1" i="0">
                <a:solidFill>
                  <a:srgbClr val="14161F"/>
                </a:solidFill>
                <a:latin typeface="Microsoft YaHei"/>
              </a:rPr>
              <a:t>双 UP 认证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结论均由算法从数据算出 · 数值可用 sqlite3 backend/data/gengv1.db 复核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数据从哪来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5,044 条真实视频、2,209 行日统计，全部来自公开接口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没有一条是生成出来的：演示数据单独标注、单独存储、不进真实榜单。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2634157" cy="13350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45920"/>
            <a:ext cx="215866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350" b="1" i="0">
                <a:solidFill>
                  <a:srgbClr val="3C5989"/>
                </a:solidFill>
                <a:latin typeface="Microsoft YaHei"/>
              </a:rPr>
              <a:t>5,044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130" b="1" i="0">
                <a:solidFill>
                  <a:srgbClr val="14161F"/>
                </a:solidFill>
                <a:latin typeface="Microsoft YaHei"/>
              </a:rPr>
              <a:t>真实 B 站视频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940" b="0" i="0">
                <a:solidFill>
                  <a:srgbClr val="6B7C9C"/>
                </a:solidFill>
                <a:latin typeface="Microsoft YaHei"/>
              </a:rPr>
              <a:t>data_source='bilibili'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4821" y="1463040"/>
            <a:ext cx="2634157" cy="13350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2565" y="1645920"/>
            <a:ext cx="215866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350" b="1" i="0">
                <a:solidFill>
                  <a:srgbClr val="3C5989"/>
                </a:solidFill>
                <a:latin typeface="Microsoft YaHei"/>
              </a:rPr>
              <a:t>2,209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130" b="1" i="0">
                <a:solidFill>
                  <a:srgbClr val="14161F"/>
                </a:solidFill>
                <a:latin typeface="Microsoft YaHei"/>
              </a:rPr>
              <a:t>日粒度统计行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940" b="0" i="0">
                <a:solidFill>
                  <a:srgbClr val="6B7C9C"/>
                </a:solidFill>
                <a:latin typeface="Microsoft YaHei"/>
              </a:rPr>
              <a:t>覆盖 2026-08-28 ~ 09-28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2715" y="1463040"/>
            <a:ext cx="2634157" cy="13350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0459" y="1645920"/>
            <a:ext cx="215866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60" b="1" i="0">
                <a:solidFill>
                  <a:srgbClr val="3C5989"/>
                </a:solidFill>
                <a:latin typeface="Microsoft YaHei"/>
              </a:rPr>
              <a:t>652,023,906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180" b="1" i="0">
                <a:solidFill>
                  <a:srgbClr val="14161F"/>
                </a:solidFill>
                <a:latin typeface="Microsoft YaHei"/>
              </a:rPr>
              <a:t>近 30 天头部播放合计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980" b="0" i="0">
                <a:solidFill>
                  <a:srgbClr val="6B7C9C"/>
                </a:solidFill>
                <a:latin typeface="Microsoft YaHei"/>
              </a:rPr>
              <a:t>6.52 亿，按周发布 cohort 的累计口径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0609" y="1463040"/>
            <a:ext cx="2634157" cy="133502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28353" y="1645920"/>
            <a:ext cx="215866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350" b="1" i="0">
                <a:solidFill>
                  <a:srgbClr val="3C5989"/>
                </a:solidFill>
                <a:latin typeface="Microsoft YaHei"/>
              </a:rPr>
              <a:t>1,150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130" b="1" i="0">
                <a:solidFill>
                  <a:srgbClr val="14161F"/>
                </a:solidFill>
                <a:latin typeface="Microsoft YaHei"/>
              </a:rPr>
              <a:t>条视频带站内名次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940" b="0" i="0">
                <a:solidFill>
                  <a:srgbClr val="6B7C9C"/>
                </a:solidFill>
                <a:latin typeface="Microsoft YaHei"/>
              </a:rPr>
              <a:t>61 个梗有 B 站综合排序名次</a:t>
            </a:r>
          </a:p>
        </p:txBody>
      </p:sp>
      <p:pic>
        <p:nvPicPr>
          <p:cNvPr id="15" name="Picture 14" descr="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108960"/>
            <a:ext cx="6492240" cy="247121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26679" y="3017520"/>
            <a:ext cx="3895344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3C5989"/>
                </a:solidFill>
                <a:latin typeface="Microsoft YaHei"/>
              </a:rPr>
              <a:t>三层口径，每层都在丢人</a:t>
            </a:r>
          </a:p>
          <a:p>
            <a:pPr algn="l">
              <a:lnSpc>
                <a:spcPct val="126000"/>
              </a:lnSpc>
              <a:spcBef>
                <a:spcPts val="7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85 → 71：有梗但窗口内没采到内容，不装作有数据</a:t>
            </a:r>
          </a:p>
          <a:p>
            <a:pPr algn="l">
              <a:lnSpc>
                <a:spcPct val="126000"/>
              </a:lnSpc>
              <a:spcBef>
                <a:spcPts val="5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71 → 35：来源必须是真实采集，且至少一位 UP 主的投稿里真抓到过证据</a:t>
            </a:r>
          </a:p>
          <a:p>
            <a:pPr algn="l">
              <a:lnSpc>
                <a:spcPct val="126000"/>
              </a:lnSpc>
              <a:spcBef>
                <a:spcPts val="5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35 → 20：过气的 2 个 + 近 7 天头部播放不足 1 万的 13 个，被「活着」门槛挡掉</a:t>
            </a:r>
          </a:p>
          <a:p>
            <a:pPr algn="l">
              <a:lnSpc>
                <a:spcPct val="126000"/>
              </a:lnSpc>
              <a:spcBef>
                <a:spcPts val="9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被挡掉的梗没有消失：梗库接口 scope=all 仍然返回，趋势和详情都能看，只是不进首页热榜。</a:t>
            </a:r>
          </a:p>
          <a:p>
            <a:pPr algn="l">
              <a:lnSpc>
                <a:spcPct val="126000"/>
              </a:lnSpc>
              <a:spcBef>
                <a:spcPts val="900"/>
              </a:spcBef>
            </a:pPr>
            <a:r>
              <a:rPr sz="1050" b="1" i="0">
                <a:solidFill>
                  <a:srgbClr val="FB3A5E"/>
                </a:solidFill>
                <a:latin typeface="Microsoft YaHei"/>
              </a:rPr>
              <a:t>目前 8 个双 UP 核验、38 个单 UP 核验、39 个未核验。最后一类不进热榜——演示梗的认证位是自己写上去的，不算证据。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结论均由算法从数据算出 · 数值可用 sqlite3 backend/data/gengv1.db 复核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测量口径（RQ1）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热度不是播放量，是五个因子加权出来的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权重全部集中在一个文件里，不散落在代码各处，前端一行判定逻辑都不写。</a:t>
            </a:r>
          </a:p>
        </p:txBody>
      </p:sp>
      <p:pic>
        <p:nvPicPr>
          <p:cNvPr id="7" name="Picture 6" descr="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26464"/>
            <a:ext cx="5486400" cy="20286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2688336"/>
            <a:ext cx="6492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3C5989"/>
                </a:solidFill>
                <a:latin typeface="Microsoft YaHei"/>
              </a:rPr>
              <a:t>公式与实现</a:t>
            </a:r>
          </a:p>
          <a:p>
            <a:pPr algn="l">
              <a:lnSpc>
                <a:spcPct val="122000"/>
              </a:lnSpc>
              <a:spcBef>
                <a:spcPts val="500"/>
              </a:spcBef>
            </a:pPr>
            <a:r>
              <a:rPr sz="1250" b="1" i="0">
                <a:solidFill>
                  <a:srgbClr val="14161F"/>
                </a:solidFill>
                <a:latin typeface="Consolas"/>
              </a:rPr>
              <a:t>Hotness = 0.25·增长 + 0.25·播放 + 0.20·互动 + 0.16·内容 + 0.14·创作者</a:t>
            </a:r>
          </a:p>
          <a:p>
            <a:pPr algn="l">
              <a:lnSpc>
                <a:spcPct val="124000"/>
              </a:lnSpc>
              <a:spcBef>
                <a:spcPts val="500"/>
              </a:spcBef>
            </a:pPr>
            <a:r>
              <a:rPr sz="1000" b="0" i="0">
                <a:solidFill>
                  <a:srgbClr val="6B7C9C"/>
                </a:solidFill>
                <a:latin typeface="Consolas"/>
              </a:rPr>
              <a:t>backend/app/analytics/hotness.py ｜ 阈值与权重：backend/app/config/algorithms.py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426464"/>
            <a:ext cx="3895344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FB3A5E"/>
                </a:solidFill>
                <a:latin typeface="Microsoft YaHei"/>
              </a:rPr>
              <a:t>四个刻意的设计决定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</a:pPr>
            <a:r>
              <a:rPr sz="1150" b="1" i="0">
                <a:solidFill>
                  <a:srgbClr val="14161F"/>
                </a:solidFill>
                <a:latin typeface="Microsoft YaHei"/>
              </a:rPr>
              <a:t>① 对数区间归一化</a:t>
            </a:r>
          </a:p>
          <a:p>
            <a:pPr algn="l">
              <a:lnSpc>
                <a:spcPct val="126000"/>
              </a:lnSpc>
              <a:spcBef>
                <a:spcPts val="3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播放量差三个量级的梗必须能同框比较。线性归一会让亿级老梗永远压住新梗。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</a:pPr>
            <a:r>
              <a:rPr sz="1150" b="1" i="0">
                <a:solidFill>
                  <a:srgbClr val="14161F"/>
                </a:solidFill>
                <a:latin typeface="Microsoft YaHei"/>
              </a:rPr>
              <a:t>② 增长权重 = 播放权重 = 0.25</a:t>
            </a:r>
          </a:p>
          <a:p>
            <a:pPr algn="l">
              <a:lnSpc>
                <a:spcPct val="126000"/>
              </a:lnSpc>
              <a:spcBef>
                <a:spcPts val="3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要回答的是「最近是不是在变热」。去年 1 亿播放、今天没人做的梗不该排前面。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</a:pPr>
            <a:r>
              <a:rPr sz="1150" b="1" i="0">
                <a:solidFill>
                  <a:srgbClr val="14161F"/>
                </a:solidFill>
                <a:latin typeface="Microsoft YaHei"/>
              </a:rPr>
              <a:t>③ 样本不足就不外推</a:t>
            </a:r>
          </a:p>
          <a:p>
            <a:pPr algn="l">
              <a:lnSpc>
                <a:spcPct val="126000"/>
              </a:lnSpc>
              <a:spcBef>
                <a:spcPts val="3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前一周讨论量 &lt; 30 或相关视频 &lt; 3 条时增长率置空并对整体打折，显示「—」而不是 +585% 这种噪声。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</a:pPr>
            <a:r>
              <a:rPr sz="1150" b="1" i="0">
                <a:solidFill>
                  <a:srgbClr val="14161F"/>
                </a:solidFill>
                <a:latin typeface="Microsoft YaHei"/>
              </a:rPr>
              <a:t>④ 算法与文案分离</a:t>
            </a:r>
          </a:p>
          <a:p>
            <a:pPr algn="l">
              <a:lnSpc>
                <a:spcPct val="126000"/>
              </a:lnSpc>
              <a:spcBef>
                <a:spcPts val="300"/>
              </a:spcBef>
            </a:pPr>
            <a:r>
              <a:rPr sz="1050" b="0" i="0">
                <a:solidFill>
                  <a:srgbClr val="6B7C9C"/>
                </a:solidFill>
                <a:latin typeface="Microsoft YaHei"/>
              </a:rPr>
              <a:t>热度、阶段、赶梗判断全部由算法算出；大模型不参与任何数值判断。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结论均由算法从数据算出 · 数值可用 sqlite3 backend/data/gengv1.db 复核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生命周期判定（RQ2 / RQ3）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六个阶段加一个闸门，判定只用四个可观测量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增长率 · 距峰值差 · 连续下滑天数 · 活跃度——规则自上而下匹配，每条结论都能指出依据。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1766773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09344"/>
            <a:ext cx="1474165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50" b="1" i="0">
                <a:solidFill>
                  <a:srgbClr val="14161F"/>
                </a:solidFill>
                <a:latin typeface="Microsoft YaHei"/>
              </a:rPr>
              <a:t>🌱 萌芽</a:t>
            </a:r>
          </a:p>
          <a:p>
            <a:pPr algn="ctr">
              <a:lnSpc>
                <a:spcPct val="122000"/>
              </a:lnSpc>
              <a:spcBef>
                <a:spcPts val="300"/>
              </a:spcBef>
            </a:pPr>
            <a:r>
              <a:rPr sz="1800" b="1" i="0">
                <a:solidFill>
                  <a:srgbClr val="FB3A5E"/>
                </a:solidFill>
                <a:latin typeface="Microsoft YaHei"/>
              </a:rPr>
              <a:t>9 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5141" y="1463040"/>
            <a:ext cx="1766773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1445" y="1609344"/>
            <a:ext cx="1474165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50" b="1" i="0">
                <a:solidFill>
                  <a:srgbClr val="14161F"/>
                </a:solidFill>
                <a:latin typeface="Microsoft YaHei"/>
              </a:rPr>
              <a:t>📈 上升</a:t>
            </a:r>
          </a:p>
          <a:p>
            <a:pPr algn="ctr">
              <a:lnSpc>
                <a:spcPct val="122000"/>
              </a:lnSpc>
              <a:spcBef>
                <a:spcPts val="300"/>
              </a:spcBef>
            </a:pPr>
            <a:r>
              <a:rPr sz="1800" b="1" i="0">
                <a:solidFill>
                  <a:srgbClr val="FB3A5E"/>
                </a:solidFill>
                <a:latin typeface="Microsoft YaHei"/>
              </a:rPr>
              <a:t>8 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3354" y="1463040"/>
            <a:ext cx="1766773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9658" y="1609344"/>
            <a:ext cx="1474165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50" b="1" i="0">
                <a:solidFill>
                  <a:srgbClr val="14161F"/>
                </a:solidFill>
                <a:latin typeface="Microsoft YaHei"/>
              </a:rPr>
              <a:t>🔥 爆发</a:t>
            </a:r>
          </a:p>
          <a:p>
            <a:pPr algn="ctr">
              <a:lnSpc>
                <a:spcPct val="122000"/>
              </a:lnSpc>
              <a:spcBef>
                <a:spcPts val="300"/>
              </a:spcBef>
            </a:pPr>
            <a:r>
              <a:rPr sz="1800" b="1" i="0">
                <a:solidFill>
                  <a:srgbClr val="FB3A5E"/>
                </a:solidFill>
                <a:latin typeface="Microsoft YaHei"/>
              </a:rPr>
              <a:t>2 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1567" y="1463040"/>
            <a:ext cx="1766773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7871" y="1609344"/>
            <a:ext cx="1474165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50" b="1" i="0">
                <a:solidFill>
                  <a:srgbClr val="14161F"/>
                </a:solidFill>
                <a:latin typeface="Microsoft YaHei"/>
              </a:rPr>
              <a:t>🌊 平稳</a:t>
            </a:r>
          </a:p>
          <a:p>
            <a:pPr algn="ctr">
              <a:lnSpc>
                <a:spcPct val="122000"/>
              </a:lnSpc>
              <a:spcBef>
                <a:spcPts val="300"/>
              </a:spcBef>
            </a:pPr>
            <a:r>
              <a:rPr sz="1800" b="1" i="0">
                <a:solidFill>
                  <a:srgbClr val="FB3A5E"/>
                </a:solidFill>
                <a:latin typeface="Microsoft YaHei"/>
              </a:rPr>
              <a:t>4 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9780" y="1463040"/>
            <a:ext cx="1766773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6084" y="1609344"/>
            <a:ext cx="1474165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50" b="1" i="0">
                <a:solidFill>
                  <a:srgbClr val="14161F"/>
                </a:solidFill>
                <a:latin typeface="Microsoft YaHei"/>
              </a:rPr>
              <a:t>📉 退潮</a:t>
            </a:r>
          </a:p>
          <a:p>
            <a:pPr algn="ctr">
              <a:lnSpc>
                <a:spcPct val="122000"/>
              </a:lnSpc>
              <a:spcBef>
                <a:spcPts val="300"/>
              </a:spcBef>
            </a:pPr>
            <a:r>
              <a:rPr sz="1800" b="1" i="0">
                <a:solidFill>
                  <a:srgbClr val="FB3A5E"/>
                </a:solidFill>
                <a:latin typeface="Microsoft YaHei"/>
              </a:rPr>
              <a:t>12 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57994" y="1463040"/>
            <a:ext cx="1766773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04298" y="1609344"/>
            <a:ext cx="1474165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1350" b="1" i="0">
                <a:solidFill>
                  <a:srgbClr val="14161F"/>
                </a:solidFill>
                <a:latin typeface="Microsoft YaHei"/>
              </a:rPr>
              <a:t>🪦 过气</a:t>
            </a:r>
          </a:p>
          <a:p>
            <a:pPr algn="ctr">
              <a:lnSpc>
                <a:spcPct val="122000"/>
              </a:lnSpc>
              <a:spcBef>
                <a:spcPts val="300"/>
              </a:spcBef>
            </a:pPr>
            <a:r>
              <a:rPr sz="1800" b="1" i="0">
                <a:solidFill>
                  <a:srgbClr val="FB3A5E"/>
                </a:solidFill>
                <a:latin typeface="Microsoft YaHei"/>
              </a:rPr>
              <a:t>3 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2724912"/>
            <a:ext cx="11055096" cy="969264"/>
          </a:xfrm>
          <a:prstGeom prst="roundRect">
            <a:avLst>
              <a:gd name="adj" fmla="val 5500"/>
            </a:avLst>
          </a:prstGeom>
          <a:solidFill>
            <a:srgbClr val="FF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2871216"/>
            <a:ext cx="104241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FB3A5E"/>
                </a:solidFill>
                <a:latin typeface="Microsoft YaHei"/>
              </a:rPr>
              <a:t>最大的一格不在上排，在闸门里：「数据不足」33 个。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1100" b="0" i="0">
                <a:solidFill>
                  <a:srgbClr val="14161F"/>
                </a:solidFill>
                <a:latin typeface="Microsoft YaHei"/>
              </a:rPr>
              <a:t>近 7 天观测到的天数不足 4 天时，算法拒绝给阶段与赶梗结论，置信度记 0。界面不把它画进生命轴线——它不是第七个阶段，是「没有地基所以不说」。</a:t>
            </a:r>
          </a:p>
        </p:txBody>
      </p:sp>
      <p:pic>
        <p:nvPicPr>
          <p:cNvPr id="21" name="Picture 20" descr="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950208"/>
            <a:ext cx="6492240" cy="20475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726679" y="3840480"/>
            <a:ext cx="389534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60" b="1" i="0">
                <a:solidFill>
                  <a:srgbClr val="3C5989"/>
                </a:solidFill>
                <a:latin typeface="Microsoft YaHei"/>
              </a:rPr>
              <a:t>为什么这一格这么大</a:t>
            </a:r>
          </a:p>
          <a:p>
            <a:pPr algn="l">
              <a:lnSpc>
                <a:spcPct val="126000"/>
              </a:lnSpc>
              <a:spcBef>
                <a:spcPts val="600"/>
              </a:spcBef>
            </a:pPr>
            <a:r>
              <a:rPr sz="919" b="0" i="0">
                <a:solidFill>
                  <a:srgbClr val="14161F"/>
                </a:solidFill>
                <a:latin typeface="Microsoft YaHei"/>
              </a:rPr>
              <a:t>B 站匿名搜索对同一个词、同一天会随机返回空结果：实测逐日打 15 天 × 2 次，30 次里只有 12 次拿到内容。</a:t>
            </a:r>
          </a:p>
          <a:p>
            <a:pPr algn="l">
              <a:lnSpc>
                <a:spcPct val="126000"/>
              </a:lnSpc>
              <a:spcBef>
                <a:spcPts val="600"/>
              </a:spcBef>
            </a:pPr>
            <a:r>
              <a:rPr sz="919" b="0" i="0">
                <a:solidFill>
                  <a:srgbClr val="14161F"/>
                </a:solidFill>
                <a:latin typeface="Microsoft YaHei"/>
              </a:rPr>
              <a:t>不重试就会把序列打出一片 0，而「0」和「那天真没人做」在返回体里长得一样。</a:t>
            </a:r>
          </a:p>
          <a:p>
            <a:pPr algn="l">
              <a:lnSpc>
                <a:spcPct val="126000"/>
              </a:lnSpc>
              <a:spcBef>
                <a:spcPts val="600"/>
              </a:spcBef>
            </a:pPr>
            <a:r>
              <a:rPr sz="919" b="0" i="0">
                <a:solidFill>
                  <a:srgbClr val="6B7C9C"/>
                </a:solidFill>
                <a:latin typeface="Microsoft YaHei"/>
              </a:rPr>
              <a:t>处理：每天额外重试 2 次（间隔递增）→ 覆盖度从 40% 提到 87%；拿不到就记 observed=0，绝不写 0 活动。</a:t>
            </a:r>
          </a:p>
          <a:p>
            <a:pPr algn="l">
              <a:lnSpc>
                <a:spcPct val="122000"/>
              </a:lnSpc>
              <a:spcBef>
                <a:spcPts val="600"/>
              </a:spcBef>
            </a:pPr>
            <a:r>
              <a:rPr sz="919" b="1" i="0">
                <a:solidFill>
                  <a:srgbClr val="FB3A5E"/>
                </a:solidFill>
                <a:latin typeface="Microsoft YaHei"/>
              </a:rPr>
              <a:t>当前全库平均观测覆盖度 55.4%。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结论均由算法从数据算出 · 数值可用 sqlite3 backend/data/gengv1.db 复核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先给一个被推翻的结论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解说播放量高的梗，并不更热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这是我自己先立的判据，然后拿 31 个真实样本把它推翻了。</a:t>
            </a:r>
          </a:p>
        </p:txBody>
      </p:sp>
      <p:pic>
        <p:nvPicPr>
          <p:cNvPr id="7" name="Picture 6" descr="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5349240" cy="38405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080" y="1444752"/>
            <a:ext cx="5266944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3C5989"/>
                </a:solidFill>
                <a:latin typeface="Microsoft YaHei"/>
              </a:rPr>
              <a:t>被检验的假设</a:t>
            </a:r>
          </a:p>
          <a:p>
            <a:pPr algn="l">
              <a:lnSpc>
                <a:spcPct val="124000"/>
              </a:lnSpc>
              <a:spcBef>
                <a:spcPts val="400"/>
              </a:spcBef>
            </a:pPr>
            <a:r>
              <a:rPr sz="1400" b="1" i="0">
                <a:solidFill>
                  <a:srgbClr val="14161F"/>
                </a:solidFill>
                <a:latin typeface="KaiTi"/>
              </a:rPr>
              <a:t>「解说视频播放量破百万的梗，才值得花成本去做。」</a:t>
            </a:r>
          </a:p>
          <a:p>
            <a:pPr algn="l">
              <a:lnSpc>
                <a:spcPct val="122000"/>
              </a:lnSpc>
              <a:spcBef>
                <a:spcPts val="1200"/>
              </a:spcBef>
            </a:pPr>
            <a:r>
              <a:rPr sz="1050" b="1" i="0">
                <a:solidFill>
                  <a:srgbClr val="FB3A5E"/>
                </a:solidFill>
                <a:latin typeface="Microsoft YaHei"/>
              </a:rPr>
              <a:t>检验结果（n = 31）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1500" b="1" i="0">
                <a:solidFill>
                  <a:srgbClr val="14161F"/>
                </a:solidFill>
                <a:latin typeface="Consolas"/>
              </a:rPr>
              <a:t>Pearson r = +0.40（p = 0.028）</a:t>
            </a: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1200" b="0" i="0">
                <a:solidFill>
                  <a:srgbClr val="6B7C9C"/>
                </a:solidFill>
                <a:latin typeface="Consolas"/>
              </a:rPr>
              <a:t>Spearman ρ = +0.29（p = 0.12，不显著）</a:t>
            </a:r>
          </a:p>
          <a:p>
            <a:pPr algn="l">
              <a:lnSpc>
                <a:spcPct val="128000"/>
              </a:lnSpc>
              <a:spcBef>
                <a:spcPts val="800"/>
              </a:spcBef>
            </a:pPr>
            <a:r>
              <a:rPr sz="1150" b="1" i="0">
                <a:solidFill>
                  <a:srgbClr val="14161F"/>
                </a:solidFill>
                <a:latin typeface="Microsoft YaHei"/>
              </a:rPr>
              <a:t>R² ≈ 0.16：解说播放量只能解释热度方差的约 16%。</a:t>
            </a:r>
          </a:p>
          <a:p>
            <a:pPr algn="l">
              <a:lnSpc>
                <a:spcPct val="122000"/>
              </a:lnSpc>
              <a:spcBef>
                <a:spcPts val="10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两个方向相反的反例：</a:t>
            </a:r>
          </a:p>
          <a:p>
            <a:pPr algn="l">
              <a:lnSpc>
                <a:spcPct val="126000"/>
              </a:lnSpc>
              <a:spcBef>
                <a:spcPts val="400"/>
              </a:spcBef>
            </a:pPr>
            <a:r>
              <a:rPr sz="1050" b="0" i="0">
                <a:solidFill>
                  <a:srgbClr val="FB3A5E"/>
                </a:solidFill>
                <a:latin typeface="Microsoft YaHei"/>
              </a:rPr>
              <a:t>· 闪身步：解说 64.6 万 → 梗热度 76.8（全站第一）</a:t>
            </a:r>
          </a:p>
          <a:p>
            <a:pPr algn="l">
              <a:lnSpc>
                <a:spcPct val="126000"/>
              </a:lnSpc>
              <a:spcBef>
                <a:spcPts val="300"/>
              </a:spcBef>
            </a:pPr>
            <a:r>
              <a:rPr sz="1050" b="0" i="0">
                <a:solidFill>
                  <a:srgbClr val="B97B0A"/>
                </a:solidFill>
                <a:latin typeface="Microsoft YaHei"/>
              </a:rPr>
              <a:t>· 宗主第二招：解说 160.7 万 → 梗热度 0.0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498848"/>
            <a:ext cx="11057839" cy="1078992"/>
          </a:xfrm>
          <a:prstGeom prst="roundRect">
            <a:avLst>
              <a:gd name="adj" fmla="val 5500"/>
            </a:avLst>
          </a:prstGeom>
          <a:solidFill>
            <a:srgbClr val="FF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636008"/>
            <a:ext cx="10472623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14161F"/>
                </a:solidFill>
                <a:latin typeface="Microsoft YaHei"/>
              </a:rPr>
              <a:t>结论：解说播放量衡量的是那个账号自己的粉丝盘，而且是发布时刻的存量。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0">
                <a:solidFill>
                  <a:srgbClr val="6B7C9C"/>
                </a:solidFill>
                <a:latin typeface="Microsoft YaHei"/>
              </a:rPr>
              <a:t>它能用来做采集成本的预算筛，不能当准入判据——所以新口径用的是「两位 UP 主里至少一位介绍过」，而不是「播放量够高」。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结论均由算法从数据算出 · 数值可用 sqlite3 backend/data/gengv1.db 复核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数据质量（方法贡献）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四个坑，每个都留了症状、诊断、处方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上游接口是测不准的，稳定观测得自己造出来——这是我认为本课题最有数据科学含量的部分。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1371600" cy="384048"/>
          </a:xfrm>
          <a:prstGeom prst="roundRect">
            <a:avLst>
              <a:gd name="adj" fmla="val 10000"/>
            </a:avLst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36192"/>
            <a:ext cx="12070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症状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84248" y="1463040"/>
            <a:ext cx="3200400" cy="384048"/>
          </a:xfrm>
          <a:prstGeom prst="roundRect">
            <a:avLst>
              <a:gd name="adj" fmla="val 10000"/>
            </a:avLst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66543" y="1536192"/>
            <a:ext cx="303580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实测现象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1463040"/>
            <a:ext cx="2468880" cy="384048"/>
          </a:xfrm>
          <a:prstGeom prst="roundRect">
            <a:avLst>
              <a:gd name="adj" fmla="val 10000"/>
            </a:avLst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2664" y="1536192"/>
            <a:ext cx="230428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诊断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44967" y="1463040"/>
            <a:ext cx="3794760" cy="384048"/>
          </a:xfrm>
          <a:prstGeom prst="roundRect">
            <a:avLst>
              <a:gd name="adj" fmla="val 10000"/>
            </a:avLst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27263" y="1536192"/>
            <a:ext cx="363016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处方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1892808"/>
            <a:ext cx="10890504" cy="8595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2002536"/>
            <a:ext cx="1207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1" i="0">
                <a:solidFill>
                  <a:srgbClr val="FB3A5E"/>
                </a:solidFill>
                <a:latin typeface="Microsoft YaHei"/>
              </a:rPr>
              <a:t>假增长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6543" y="2002536"/>
            <a:ext cx="30358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一次抓完再摊到每天，算出 +23,616%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2002536"/>
            <a:ext cx="23042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拿今天看到的累计播放量回填了历史某天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3" y="2002536"/>
            <a:ext cx="363016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逐日带 pubtime_begin/end 区间查询，只统计当天发布内容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816352"/>
            <a:ext cx="10890504" cy="8595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2926080"/>
            <a:ext cx="1207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1" i="0">
                <a:solidFill>
                  <a:srgbClr val="FB3A5E"/>
                </a:solidFill>
                <a:latin typeface="Microsoft YaHei"/>
              </a:rPr>
              <a:t>抽样抖动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66543" y="2926080"/>
            <a:ext cx="30358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同一个词同一天两次：一次 20 条、一次 0 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2926080"/>
            <a:ext cx="23042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琵琶曲从 4 天 / 3,976 万被刷成 1 天 / 18 条，热度 44.2 → 0.0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27263" y="2926080"/>
            <a:ext cx="363016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同一天只保留更好的一次观测（比样本数与播放量，绝不相加）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739896"/>
            <a:ext cx="10890504" cy="8595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3849624"/>
            <a:ext cx="1207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1" i="0">
                <a:solidFill>
                  <a:srgbClr val="FB3A5E"/>
                </a:solidFill>
                <a:latin typeface="Microsoft YaHei"/>
              </a:rPr>
              <a:t>空窗误删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66543" y="3849624"/>
            <a:ext cx="30358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一次采空就把历史真实数据清掉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2664" y="3849624"/>
            <a:ext cx="23042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把「没看见」当成「没有」，空壳与真零在库里无法区分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27263" y="3849624"/>
            <a:ext cx="363016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空窗只清非同源数据；同源旧快照保留并计数，拿不到就记 observed=0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663440"/>
            <a:ext cx="10890504" cy="85953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4773168"/>
            <a:ext cx="12070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1" i="0">
                <a:solidFill>
                  <a:srgbClr val="FB3A5E"/>
                </a:solidFill>
                <a:latin typeface="Microsoft YaHei"/>
              </a:rPr>
              <a:t>短别名污染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66543" y="4773168"/>
            <a:ext cx="303580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「我不是黄豆」的别名「黄豆」命中即算相关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2664" y="4773168"/>
            <a:ext cx="23042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418 条样本里 343 条其实只在讲黄豆（琵琶曲黄豆版、炒黄豆），该梗还挂着榜首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27263" y="4773168"/>
            <a:ext cx="363016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短于 4 字的别名只算弱证据，必须再有第二个词佐证才能过阈值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522976"/>
            <a:ext cx="11057839" cy="768096"/>
          </a:xfrm>
          <a:prstGeom prst="roundRect">
            <a:avLst>
              <a:gd name="adj" fmla="val 55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5660136"/>
            <a:ext cx="10472623" cy="5120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3C5989"/>
                </a:solidFill>
                <a:latin typeface="Microsoft YaHei"/>
              </a:rPr>
              <a:t>统一句式：症状 → 实测现象 → 诊断 → 处方。四条都能在 docs/data/refresh-report.md 与库里复查。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另外两个可复现的实测结论：匿名请求 player/wbi/v2 返回 code=0 但字幕轨为空数组；B 站图床带 Referer 会 403、不带才 200（所以前端 img 必须 no-referrer）。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结论均由算法从数据算出 · 数值可用 sqlite3 backend/data/gengv1.db 复核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验证实验（已做）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三项做完了的验证，结论都写在这里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没做的三项在下一页，画成空白面板——这两页请不要混看。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11055096" cy="13533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63040"/>
            <a:ext cx="50292" cy="1353312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627632"/>
            <a:ext cx="2697480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FB3A5E"/>
                </a:solidFill>
                <a:latin typeface="Microsoft YaHei"/>
              </a:rPr>
              <a:t>① 判据证伪实验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1627632"/>
            <a:ext cx="7699248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50" b="0" i="0">
                <a:solidFill>
                  <a:srgbClr val="14161F"/>
                </a:solidFill>
                <a:latin typeface="Microsoft YaHei"/>
              </a:rPr>
              <a:t>· 假设：解说播放量破百万的梗才值得做</a:t>
            </a:r>
          </a:p>
          <a:p>
            <a:pPr algn="l">
              <a:lnSpc>
                <a:spcPct val="126000"/>
              </a:lnSpc>
              <a:spcBef>
                <a:spcPts val="600"/>
              </a:spcBef>
            </a:pPr>
            <a:r>
              <a:rPr sz="950" b="0" i="0">
                <a:solidFill>
                  <a:srgbClr val="14161F"/>
                </a:solidFill>
                <a:latin typeface="Microsoft YaHei"/>
              </a:rPr>
              <a:t>· 方法：对 31 个上榜梗做相关分析</a:t>
            </a:r>
          </a:p>
          <a:p>
            <a:pPr algn="l">
              <a:lnSpc>
                <a:spcPct val="126000"/>
              </a:lnSpc>
              <a:spcBef>
                <a:spcPts val="600"/>
              </a:spcBef>
            </a:pPr>
            <a:r>
              <a:rPr sz="950" b="0" i="0">
                <a:solidFill>
                  <a:srgbClr val="14161F"/>
                </a:solidFill>
                <a:latin typeface="Microsoft YaHei"/>
              </a:rPr>
              <a:t>· 结果：Pearson r = +0.40（p = 0.028）；Spearman ρ = +0.29（p = 0.12，不显著）；R² ≈ 0.16</a:t>
            </a:r>
          </a:p>
          <a:p>
            <a:pPr algn="l">
              <a:lnSpc>
                <a:spcPct val="126000"/>
              </a:lnSpc>
              <a:spcBef>
                <a:spcPts val="600"/>
              </a:spcBef>
            </a:pPr>
            <a:r>
              <a:rPr sz="950" b="0" i="0">
                <a:solidFill>
                  <a:srgbClr val="14161F"/>
                </a:solidFill>
                <a:latin typeface="Microsoft YaHei"/>
              </a:rPr>
              <a:t>· 结论：判据被推翻，改用它做成本预算筛，不做准入门槛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44368"/>
            <a:ext cx="11055096" cy="13533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944368"/>
            <a:ext cx="50292" cy="1353312"/>
          </a:xfrm>
          <a:prstGeom prst="rect">
            <a:avLst/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108960"/>
            <a:ext cx="2697480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3C5989"/>
                </a:solidFill>
                <a:latin typeface="Microsoft YaHei"/>
              </a:rPr>
              <a:t>② 观测策略的覆盖率提升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3108960"/>
            <a:ext cx="7699248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50" b="0" i="0">
                <a:solidFill>
                  <a:srgbClr val="14161F"/>
                </a:solidFill>
                <a:latin typeface="Microsoft YaHei"/>
              </a:rPr>
              <a:t>· 问题：同词同日匿名搜索会随机返回空结果（30 次里只有 12 次拿到内容）</a:t>
            </a:r>
          </a:p>
          <a:p>
            <a:pPr algn="l">
              <a:lnSpc>
                <a:spcPct val="126000"/>
              </a:lnSpc>
              <a:spcBef>
                <a:spcPts val="600"/>
              </a:spcBef>
            </a:pPr>
            <a:r>
              <a:rPr sz="950" b="0" i="0">
                <a:solidFill>
                  <a:srgbClr val="14161F"/>
                </a:solidFill>
                <a:latin typeface="Microsoft YaHei"/>
              </a:rPr>
              <a:t>· 方法：每天额外重试 2 次 + 同日取更优观测 + 快照回填</a:t>
            </a:r>
          </a:p>
          <a:p>
            <a:pPr algn="l">
              <a:lnSpc>
                <a:spcPct val="126000"/>
              </a:lnSpc>
              <a:spcBef>
                <a:spcPts val="600"/>
              </a:spcBef>
            </a:pPr>
            <a:r>
              <a:rPr sz="950" b="0" i="0">
                <a:solidFill>
                  <a:srgbClr val="14161F"/>
                </a:solidFill>
                <a:latin typeface="Microsoft YaHei"/>
              </a:rPr>
              <a:t>· 结果：单日覆盖度 40% → 87%；同日沿用更优观测 169 天</a:t>
            </a:r>
          </a:p>
          <a:p>
            <a:pPr algn="l">
              <a:lnSpc>
                <a:spcPct val="126000"/>
              </a:lnSpc>
              <a:spcBef>
                <a:spcPts val="600"/>
              </a:spcBef>
            </a:pPr>
            <a:r>
              <a:rPr sz="950" b="0" i="0">
                <a:solidFill>
                  <a:srgbClr val="14161F"/>
                </a:solidFill>
                <a:latin typeface="Microsoft YaHei"/>
              </a:rPr>
              <a:t>· 结论：把「没看见」和「没有」在数据模型里彻底分开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425696"/>
            <a:ext cx="11055096" cy="13533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425696"/>
            <a:ext cx="50292" cy="1353312"/>
          </a:xfrm>
          <a:prstGeom prst="rect">
            <a:avLst/>
          </a:prstGeom>
          <a:solidFill>
            <a:srgbClr val="B97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4590288"/>
            <a:ext cx="2697480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1" i="0">
                <a:solidFill>
                  <a:srgbClr val="B97B0A"/>
                </a:solidFill>
                <a:latin typeface="Microsoft YaHei"/>
              </a:rPr>
              <a:t>③ 门槛消融（规则层）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4590288"/>
            <a:ext cx="7699248" cy="10424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950" b="0" i="0">
                <a:solidFill>
                  <a:srgbClr val="14161F"/>
                </a:solidFill>
                <a:latin typeface="Microsoft YaHei"/>
              </a:rPr>
              <a:t>· 做法：逐层加上「过气不上榜」与「近 7 天播放 ≥ 1 万」两条门槛</a:t>
            </a:r>
          </a:p>
          <a:p>
            <a:pPr algn="l">
              <a:lnSpc>
                <a:spcPct val="126000"/>
              </a:lnSpc>
              <a:spcBef>
                <a:spcPts val="600"/>
              </a:spcBef>
            </a:pPr>
            <a:r>
              <a:rPr sz="950" b="0" i="0">
                <a:solidFill>
                  <a:srgbClr val="14161F"/>
                </a:solidFill>
                <a:latin typeface="Microsoft YaHei"/>
              </a:rPr>
              <a:t>· 结果：候选从 35 收敛到 20；挡掉的 15 个里 2 个过气、13 个只剩历史残值</a:t>
            </a:r>
          </a:p>
          <a:p>
            <a:pPr algn="l">
              <a:lnSpc>
                <a:spcPct val="126000"/>
              </a:lnSpc>
              <a:spcBef>
                <a:spcPts val="600"/>
              </a:spcBef>
            </a:pPr>
            <a:r>
              <a:rPr sz="950" b="0" i="0">
                <a:solidFill>
                  <a:srgbClr val="14161F"/>
                </a:solidFill>
                <a:latin typeface="Microsoft YaHei"/>
              </a:rPr>
              <a:t>· 反例检验：琵琶曲 30 天只有 4 天有内容却播了 3,976 万——刻意不用天数当门槛</a:t>
            </a:r>
          </a:p>
          <a:p>
            <a:pPr algn="l">
              <a:lnSpc>
                <a:spcPct val="126000"/>
              </a:lnSpc>
              <a:spcBef>
                <a:spcPts val="600"/>
              </a:spcBef>
            </a:pPr>
            <a:r>
              <a:rPr sz="950" b="0" i="0">
                <a:solidFill>
                  <a:srgbClr val="14161F"/>
                </a:solidFill>
                <a:latin typeface="Microsoft YaHei"/>
              </a:rPr>
              <a:t>· 结论：门槛用播放量下限而不是活跃天数，避免误杀脉冲型梗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925312"/>
            <a:ext cx="11057839" cy="676656"/>
          </a:xfrm>
          <a:prstGeom prst="roundRect">
            <a:avLst>
              <a:gd name="adj" fmla="val 5500"/>
            </a:avLst>
          </a:prstGeom>
          <a:solidFill>
            <a:srgbClr val="FF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6062472"/>
            <a:ext cx="10472623" cy="4206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14161F"/>
                </a:solidFill>
                <a:latin typeface="Microsoft YaHei"/>
              </a:rPr>
              <a:t>这三项的共同点：都是先立一个可被数据推翻的说法，再去检验它。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结论均由算法从数据算出 · 数值可用 sqlite3 backend/data/gengv1.db 复核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FC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FC94B"/>
                </a:solidFill>
                <a:latin typeface="Microsoft YaHei"/>
              </a:rPr>
              <a:t>验证实验（未做）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这四块是空的，我不打算装作它们已经跑完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现场如果必须填，我会说「这是下一步」——不会现编数字。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66399" y="347472"/>
            <a:ext cx="658368" cy="310896"/>
          </a:xfrm>
          <a:prstGeom prst="roundRect">
            <a:avLst>
              <a:gd name="adj" fmla="val 28000"/>
            </a:avLst>
          </a:prstGeom>
          <a:solidFill>
            <a:srgbClr val="FF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</a:pPr>
            <a:r>
              <a:rPr sz="1100" b="1" i="0">
                <a:solidFill>
                  <a:srgbClr val="FFC94B"/>
                </a:solidFill>
                <a:latin typeface="Microsoft YaHei"/>
              </a:rPr>
              <a:t>空白面板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63040"/>
            <a:ext cx="5440680" cy="1792224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45920"/>
            <a:ext cx="4965192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>
                <a:solidFill>
                  <a:srgbClr val="B97B0A"/>
                </a:solidFill>
                <a:latin typeface="Microsoft YaHei"/>
              </a:rPr>
              <a:t>待补实验</a:t>
            </a: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1090" b="1" i="0">
                <a:solidFill>
                  <a:srgbClr val="14161F"/>
                </a:solidFill>
                <a:latin typeface="Microsoft YaHei"/>
              </a:rPr>
              <a:t>A · 阶段判定一致性（混淆矩阵）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840" b="0" i="0">
                <a:solidFill>
                  <a:srgbClr val="6B7C9C"/>
                </a:solidFill>
                <a:latin typeface="Microsoft YaHei"/>
              </a:rPr>
              <a:t>· 标注方案：_____ 个梗 × _____ 名标注者（待定）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840" b="0" i="0">
                <a:solidFill>
                  <a:srgbClr val="6B7C9C"/>
                </a:solidFill>
                <a:latin typeface="Microsoft YaHei"/>
              </a:rPr>
              <a:t>· 指标：混淆矩阵 + 准确率 / Kappa = ________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840" b="0" i="0">
                <a:solidFill>
                  <a:srgbClr val="6B7C9C"/>
                </a:solidFill>
                <a:latin typeface="Microsoft YaHei"/>
              </a:rPr>
              <a:t>· 对照：规则判定 vs 3 名标注者多数票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800" b="0" i="0">
                <a:solidFill>
                  <a:srgbClr val="B97B0A"/>
                </a:solidFill>
                <a:latin typeface="Microsoft YaHei"/>
              </a:rPr>
              <a:t>计划第 5 周完成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463040"/>
            <a:ext cx="5440680" cy="54864"/>
          </a:xfrm>
          <a:prstGeom prst="rect">
            <a:avLst/>
          </a:prstGeom>
          <a:solidFill>
            <a:srgbClr val="FFC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81344" y="1463040"/>
            <a:ext cx="5440680" cy="1792224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45920"/>
            <a:ext cx="4965192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>
                <a:solidFill>
                  <a:srgbClr val="B97B0A"/>
                </a:solidFill>
                <a:latin typeface="Microsoft YaHei"/>
              </a:rPr>
              <a:t>待补实验</a:t>
            </a: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1090" b="1" i="0">
                <a:solidFill>
                  <a:srgbClr val="14161F"/>
                </a:solidFill>
                <a:latin typeface="Microsoft YaHei"/>
              </a:rPr>
              <a:t>B · 权重消融实验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840" b="0" i="0">
                <a:solidFill>
                  <a:srgbClr val="6B7C9C"/>
                </a:solidFill>
                <a:latin typeface="Microsoft YaHei"/>
              </a:rPr>
              <a:t>· 做法：每次对一个权重 ±0.05，重算排名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840" b="0" i="0">
                <a:solidFill>
                  <a:srgbClr val="6B7C9C"/>
                </a:solidFill>
                <a:latin typeface="Microsoft YaHei"/>
              </a:rPr>
              <a:t>· 指标：排名 Spearman 相关 = ________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840" b="0" i="0">
                <a:solidFill>
                  <a:srgbClr val="6B7C9C"/>
                </a:solidFill>
                <a:latin typeface="Microsoft YaHei"/>
              </a:rPr>
              <a:t>· 目的：证明 0.25/0.25/0.20/0.16/0.14 不是拍脑袋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800" b="0" i="0">
                <a:solidFill>
                  <a:srgbClr val="B97B0A"/>
                </a:solidFill>
                <a:latin typeface="Microsoft YaHei"/>
              </a:rPr>
              <a:t>计划第 5 周完成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1463040"/>
            <a:ext cx="5440680" cy="54864"/>
          </a:xfrm>
          <a:prstGeom prst="rect">
            <a:avLst/>
          </a:prstGeom>
          <a:solidFill>
            <a:srgbClr val="FFC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3419856"/>
            <a:ext cx="5440680" cy="1792224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602736"/>
            <a:ext cx="4965192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>
                <a:solidFill>
                  <a:srgbClr val="B97B0A"/>
                </a:solidFill>
                <a:latin typeface="Microsoft YaHei"/>
              </a:rPr>
              <a:t>待补实验</a:t>
            </a: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1090" b="1" i="0">
                <a:solidFill>
                  <a:srgbClr val="14161F"/>
                </a:solidFill>
                <a:latin typeface="Microsoft YaHei"/>
              </a:rPr>
              <a:t>C · 用户实验（对照）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840" b="0" i="0">
                <a:solidFill>
                  <a:srgbClr val="6B7C9C"/>
                </a:solidFill>
                <a:latin typeface="Microsoft YaHei"/>
              </a:rPr>
              <a:t>· 方案：_____ 人对照「看热搜」vs「看本系统」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840" b="0" i="0">
                <a:solidFill>
                  <a:srgbClr val="6B7C9C"/>
                </a:solidFill>
                <a:latin typeface="Microsoft YaHei"/>
              </a:rPr>
              <a:t>· 指标：选题准确率 = ________ / 主观有用性 = ________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840" b="0" i="0">
                <a:solidFill>
                  <a:srgbClr val="6B7C9C"/>
                </a:solidFill>
                <a:latin typeface="Microsoft YaHei"/>
              </a:rPr>
              <a:t>· 待定：实验平台与任务设计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800" b="0" i="0">
                <a:solidFill>
                  <a:srgbClr val="B97B0A"/>
                </a:solidFill>
                <a:latin typeface="Microsoft YaHei"/>
              </a:rPr>
              <a:t>计划第 4 周完成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419856"/>
            <a:ext cx="5440680" cy="54864"/>
          </a:xfrm>
          <a:prstGeom prst="rect">
            <a:avLst/>
          </a:prstGeom>
          <a:solidFill>
            <a:srgbClr val="FFC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1344" y="3419856"/>
            <a:ext cx="5440680" cy="1792224"/>
          </a:xfrm>
          <a:prstGeom prst="roundRect">
            <a:avLst>
              <a:gd name="adj" fmla="val 5500"/>
            </a:avLst>
          </a:prstGeom>
          <a:solidFill>
            <a:srgbClr val="F2F4F8"/>
          </a:solidFill>
          <a:ln w="12700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3602736"/>
            <a:ext cx="4965192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800" b="1" i="0">
                <a:solidFill>
                  <a:srgbClr val="B97B0A"/>
                </a:solidFill>
                <a:latin typeface="Microsoft YaHei"/>
              </a:rPr>
              <a:t>待补实验</a:t>
            </a: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1090" b="1" i="0">
                <a:solidFill>
                  <a:srgbClr val="14161F"/>
                </a:solidFill>
                <a:latin typeface="Microsoft YaHei"/>
              </a:rPr>
              <a:t>D · 抽样口径敏感性分析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840" b="0" i="0">
                <a:solidFill>
                  <a:srgbClr val="6B7C9C"/>
                </a:solidFill>
                <a:latin typeface="Microsoft YaHei"/>
              </a:rPr>
              <a:t>· 做法：把头部 20 条改成 10 / 50 重跑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840" b="0" i="0">
                <a:solidFill>
                  <a:srgbClr val="6B7C9C"/>
                </a:solidFill>
                <a:latin typeface="Microsoft YaHei"/>
              </a:rPr>
              <a:t>· 指标：排名 Spearman 相关 = ________</a:t>
            </a:r>
          </a:p>
          <a:p>
            <a:pPr algn="l">
              <a:lnSpc>
                <a:spcPct val="124000"/>
              </a:lnSpc>
              <a:spcBef>
                <a:spcPts val="600"/>
              </a:spcBef>
            </a:pPr>
            <a:r>
              <a:rPr sz="840" b="0" i="0">
                <a:solidFill>
                  <a:srgbClr val="6B7C9C"/>
                </a:solidFill>
                <a:latin typeface="Microsoft YaHei"/>
              </a:rPr>
              <a:t>· 目的：说明结论对样本量不敏感</a:t>
            </a: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800" b="0" i="0">
                <a:solidFill>
                  <a:srgbClr val="B97B0A"/>
                </a:solidFill>
                <a:latin typeface="Microsoft YaHei"/>
              </a:rPr>
              <a:t>计划第 5-6 周完成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3419856"/>
            <a:ext cx="5440680" cy="54864"/>
          </a:xfrm>
          <a:prstGeom prst="rect">
            <a:avLst/>
          </a:prstGeom>
          <a:solidFill>
            <a:srgbClr val="FFC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5394960"/>
            <a:ext cx="11057839" cy="896112"/>
          </a:xfrm>
          <a:prstGeom prst="roundRect">
            <a:avLst>
              <a:gd name="adj" fmla="val 5500"/>
            </a:avLst>
          </a:prstGeom>
          <a:solidFill>
            <a:srgbClr val="FF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5532120"/>
            <a:ext cx="1047262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B97B0A"/>
                </a:solidFill>
                <a:latin typeface="Microsoft YaHei"/>
              </a:rPr>
              <a:t>为什么把它们画成空白面板：一份答辩如果什么都不缺，通常说明标准定得太低。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0">
                <a:solidFill>
                  <a:srgbClr val="6B7C9C"/>
                </a:solidFill>
                <a:latin typeface="Microsoft YaHei"/>
              </a:rPr>
              <a:t>这四块分别对应用户实验、混淆矩阵、权重消融、抽样敏感性——也是评委最常问的四组数字。我先承认它们没有，再讲我打算怎么补。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结论均由算法从数据算出 · 数值可用 sqlite3 backend/data/gengv1.db 复核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工程证据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不是「我做了个网站」，是 279 项测试在守着那些口径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所有数字都可用仓库里的命令复现，不是截图。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2072579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45920"/>
            <a:ext cx="1597091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50" b="1" i="0">
                <a:solidFill>
                  <a:srgbClr val="FB3A5E"/>
                </a:solidFill>
                <a:latin typeface="Microsoft YaHei"/>
              </a:rPr>
              <a:t>279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910" b="1" i="0">
                <a:solidFill>
                  <a:srgbClr val="14161F"/>
                </a:solidFill>
                <a:latin typeface="Microsoft YaHei"/>
              </a:rPr>
              <a:t>后端测试全绿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760" b="0" i="0">
                <a:solidFill>
                  <a:srgbClr val="6B7C9C"/>
                </a:solidFill>
                <a:latin typeface="Microsoft YaHei"/>
              </a:rPr>
              <a:t>假客户端 + 内存库，全部离线可复跑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3243" y="1463040"/>
            <a:ext cx="2072579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50987" y="1645920"/>
            <a:ext cx="1597091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10" b="1" i="0">
                <a:solidFill>
                  <a:srgbClr val="3C5989"/>
                </a:solidFill>
                <a:latin typeface="Microsoft YaHei"/>
              </a:rPr>
              <a:t>125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980" b="1" i="0">
                <a:solidFill>
                  <a:srgbClr val="14161F"/>
                </a:solidFill>
                <a:latin typeface="Microsoft YaHei"/>
              </a:rPr>
              <a:t>接口冒烟用例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819" b="0" i="0">
                <a:solidFill>
                  <a:srgbClr val="6B7C9C"/>
                </a:solidFill>
                <a:latin typeface="Microsoft YaHei"/>
              </a:rPr>
              <a:t>对着运行中的真实后端逐个打过去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9558" y="1463040"/>
            <a:ext cx="2072579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97302" y="1645920"/>
            <a:ext cx="1597091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39" b="1" i="0">
                <a:solidFill>
                  <a:srgbClr val="3C5989"/>
                </a:solidFill>
                <a:latin typeface="Microsoft YaHei"/>
              </a:rPr>
              <a:t>21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860" b="1" i="0">
                <a:solidFill>
                  <a:srgbClr val="14161F"/>
                </a:solidFill>
                <a:latin typeface="Microsoft YaHei"/>
              </a:rPr>
              <a:t>小程序测试用例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720" b="0" i="0">
                <a:solidFill>
                  <a:srgbClr val="6B7C9C"/>
                </a:solidFill>
                <a:latin typeface="Microsoft YaHei"/>
              </a:rPr>
              <a:t>展示层纯函数 + 对着真实后端的接口契约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5873" y="1463040"/>
            <a:ext cx="2072579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617" y="1645920"/>
            <a:ext cx="1597091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20" b="1" i="0">
                <a:solidFill>
                  <a:srgbClr val="3C5989"/>
                </a:solidFill>
                <a:latin typeface="Microsoft YaHei"/>
              </a:rPr>
              <a:t>69 + 31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940" b="1" i="0">
                <a:solidFill>
                  <a:srgbClr val="14161F"/>
                </a:solidFill>
                <a:latin typeface="Microsoft YaHei"/>
              </a:rPr>
              <a:t>后端模块 + 前端文件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780" b="0" i="0">
                <a:solidFill>
                  <a:srgbClr val="6B7C9C"/>
                </a:solidFill>
                <a:latin typeface="Microsoft YaHei"/>
              </a:rPr>
              <a:t>10,409 行 Python、4,666 行 TS/TSX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2188" y="1463040"/>
            <a:ext cx="2072579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9932" y="1645920"/>
            <a:ext cx="1597091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939" b="1" i="0">
                <a:solidFill>
                  <a:srgbClr val="B97B0A"/>
                </a:solidFill>
                <a:latin typeface="Microsoft YaHei"/>
              </a:rPr>
              <a:t>204KB</a:t>
            </a:r>
          </a:p>
          <a:p>
            <a:pPr algn="l">
              <a:lnSpc>
                <a:spcPct val="122000"/>
              </a:lnSpc>
              <a:spcBef>
                <a:spcPts val="400"/>
              </a:spcBef>
            </a:pPr>
            <a:r>
              <a:rPr sz="860" b="1" i="0">
                <a:solidFill>
                  <a:srgbClr val="14161F"/>
                </a:solidFill>
                <a:latin typeface="Microsoft YaHei"/>
              </a:rPr>
              <a:t>前端构建产物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720" b="0" i="0">
                <a:solidFill>
                  <a:srgbClr val="6B7C9C"/>
                </a:solidFill>
                <a:latin typeface="Microsoft YaHei"/>
              </a:rPr>
              <a:t>gzip 66KB，ECharts 拆到详情页按需加载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926080"/>
            <a:ext cx="5440680" cy="268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3C5989"/>
                </a:solidFill>
                <a:latin typeface="Microsoft YaHei"/>
              </a:rPr>
              <a:t>被测试锁住的关键断言（这几条最容易被做坏）</a:t>
            </a:r>
          </a:p>
          <a:p>
            <a:pPr algn="l">
              <a:lnSpc>
                <a:spcPct val="126000"/>
              </a:lnSpc>
              <a:spcBef>
                <a:spcPts val="8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· 改封面、改介绍，不会改变热度与榜单——人工只能碰展示层</a:t>
            </a:r>
          </a:p>
          <a:p>
            <a:pPr algn="l">
              <a:lnSpc>
                <a:spcPct val="126000"/>
              </a:lnSpc>
              <a:spcBef>
                <a:spcPts val="5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· 重算是幂等的：同一份数据算两次，结果完全一致</a:t>
            </a:r>
          </a:p>
          <a:p>
            <a:pPr algn="l">
              <a:lnSpc>
                <a:spcPct val="126000"/>
              </a:lnSpc>
              <a:spcBef>
                <a:spcPts val="5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· 演示数据不得进真实榜单（真实模式下未核验的梗一律挡掉）</a:t>
            </a:r>
          </a:p>
          <a:p>
            <a:pPr algn="l">
              <a:lnSpc>
                <a:spcPct val="126000"/>
              </a:lnSpc>
              <a:spcBef>
                <a:spcPts val="5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· 观测不足时生命周期与赶梗判断必须返回「数据不足」</a:t>
            </a:r>
          </a:p>
          <a:p>
            <a:pPr algn="l">
              <a:lnSpc>
                <a:spcPct val="126000"/>
              </a:lnSpc>
              <a:spcBef>
                <a:spcPts val="5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· 大模型返回的 status 与算法不一致时，以算法为准</a:t>
            </a:r>
          </a:p>
          <a:p>
            <a:pPr algn="l">
              <a:lnSpc>
                <a:spcPct val="126000"/>
              </a:lnSpc>
              <a:spcBef>
                <a:spcPts val="5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· 没有 Key、错误 Key、超时三种情况页面都不崩，且可「重新判断」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926080"/>
            <a:ext cx="5440680" cy="268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 i="0">
                <a:solidFill>
                  <a:srgbClr val="FB3A5E"/>
                </a:solidFill>
                <a:latin typeface="Microsoft YaHei"/>
              </a:rPr>
              <a:t>AI 不是单点故障（这条也有测试覆盖）</a:t>
            </a:r>
          </a:p>
          <a:p>
            <a:pPr algn="l">
              <a:lnSpc>
                <a:spcPct val="126000"/>
              </a:lnSpc>
              <a:spcBef>
                <a:spcPts val="8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· 未配 Key：文案位显示算法自己写的那句话，标注「文案来源：算法兜底」</a:t>
            </a:r>
          </a:p>
          <a:p>
            <a:pPr algn="l">
              <a:lnSpc>
                <a:spcPct val="126000"/>
              </a:lnSpc>
              <a:spcBef>
                <a:spcPts val="5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· 调用失败 / 超时：返回 unavailable，卡片给「暂时无法生成 + 重新判断」</a:t>
            </a:r>
          </a:p>
          <a:p>
            <a:pPr algn="l">
              <a:lnSpc>
                <a:spcPct val="126000"/>
              </a:lnSpc>
              <a:spcBef>
                <a:spcPts val="5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· 热度、生命周期、图表、B 站数据全部不依赖 AI，照常渲染</a:t>
            </a:r>
          </a:p>
          <a:p>
            <a:pPr algn="l">
              <a:lnSpc>
                <a:spcPct val="126000"/>
              </a:lnSpc>
              <a:spcBef>
                <a:spcPts val="5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· 结果按 (meme_id, kind, data_version) 缓存，数据没变不再打接口</a:t>
            </a:r>
          </a:p>
          <a:p>
            <a:pPr algn="l">
              <a:lnSpc>
                <a:spcPct val="126000"/>
              </a:lnSpc>
              <a:spcBef>
                <a:spcPts val="5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· 429 / 5xx / 超时会重试，但次数有限（默认 2 次，指数退避），绝不无限重试</a:t>
            </a:r>
          </a:p>
          <a:p>
            <a:pPr algn="l">
              <a:lnSpc>
                <a:spcPct val="126000"/>
              </a:lnSpc>
              <a:spcBef>
                <a:spcPts val="500"/>
              </a:spcBef>
            </a:pPr>
            <a:r>
              <a:rPr sz="1050" b="0" i="0">
                <a:solidFill>
                  <a:srgbClr val="14161F"/>
                </a:solidFill>
                <a:latin typeface="Microsoft YaHei"/>
              </a:rPr>
              <a:t>· API Key 不进前端 bundle、不进日志（有脱敏过滤器）、不进 Git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724144"/>
            <a:ext cx="11057839" cy="566928"/>
          </a:xfrm>
          <a:prstGeom prst="roundRect">
            <a:avLst>
              <a:gd name="adj" fmla="val 55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5861304"/>
            <a:ext cx="104726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3C5989"/>
                </a:solidFill>
                <a:latin typeface="Microsoft YaHei"/>
              </a:rPr>
              <a:t>复现命令：cd backend &amp;&amp; python -m pytest ｜ python scripts/smoke_api.py（需后端在跑）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结论均由算法从数据算出 · 数值可用 sqlite3 backend/data/gengv1.db 复核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局限与未解问题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四件我到现在也没解决的事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第 4 条是一个已知的口径偏差，我没修——这是一个取舍，不是疏忽。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11055096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63040"/>
            <a:ext cx="50292" cy="969264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591056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脉冲型梗会被误判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1568" y="1591056"/>
            <a:ext cx="3977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琵琶曲 30 天只有 4 天有内容，却播了 3,976 万，规则容易判成过气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7" y="1591056"/>
            <a:ext cx="38587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→ 上榜层用「近 7 天头部播放下限」兜底；后续为脉冲型单独建模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14600"/>
            <a:ext cx="11055096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514600"/>
            <a:ext cx="50292" cy="969264"/>
          </a:xfrm>
          <a:prstGeom prst="rect">
            <a:avLst/>
          </a:prstGeom>
          <a:solidFill>
            <a:srgbClr val="B97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642616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 i="0">
                <a:solidFill>
                  <a:srgbClr val="B97B0A"/>
                </a:solidFill>
                <a:latin typeface="Microsoft YaHei"/>
              </a:rPr>
              <a:t>残值会被误判成萌芽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642616"/>
            <a:ext cx="3977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「omg你吓到了我」近 7 天只剩 3,770 次播放，却落在萌芽期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7" y="2642616"/>
            <a:ext cx="38587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→ 给萌芽期补最低活跃度约束（下一步）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66160"/>
            <a:ext cx="11055096" cy="96926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566160"/>
            <a:ext cx="50292" cy="969264"/>
          </a:xfrm>
          <a:prstGeom prst="rect">
            <a:avLst/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694176"/>
            <a:ext cx="2423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 i="0">
                <a:solidFill>
                  <a:srgbClr val="3C5989"/>
                </a:solidFill>
                <a:latin typeface="Microsoft YaHei"/>
              </a:rPr>
              <a:t>样本量偏小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3694176"/>
            <a:ext cx="39776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n = 31 的证伪实验、71 个入池梗，做曲线拟合仍然不宽裕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6367" y="3694176"/>
            <a:ext cx="385876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→ 继续每日增量积累；等样本变大后复算全部结论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617720"/>
            <a:ext cx="11055096" cy="1133856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617720"/>
            <a:ext cx="50292" cy="1133856"/>
          </a:xfrm>
          <a:prstGeom prst="rect">
            <a:avLst/>
          </a:prstGeom>
          <a:solidFill>
            <a:srgbClr val="6B7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745736"/>
            <a:ext cx="242316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150" b="1" i="0">
                <a:solidFill>
                  <a:srgbClr val="6B7C9C"/>
                </a:solidFill>
                <a:latin typeface="Microsoft YaHei"/>
              </a:rPr>
              <a:t>已知未修的口径偏差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4745736"/>
            <a:ext cx="3977639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14161F"/>
                </a:solidFill>
                <a:latin typeface="Microsoft YaHei"/>
              </a:rPr>
              <a:t>view 是「该日发布 cohort 的累计播放」，老日子多攒了十几天，序列天生向今天下坡，7 天对 7 天的增长率偏高估跌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7" y="4745736"/>
            <a:ext cx="385876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4000"/>
              </a:lnSpc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→ 年龄中性的替代量是 search_total（实测上周 789/天 vs 这周 750/天）；改它会重排全部榜单与赶梗结论，2026-09-28 决定先修可信度、暂不动公式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852160"/>
            <a:ext cx="11057839" cy="694944"/>
          </a:xfrm>
          <a:prstGeom prst="roundRect">
            <a:avLst>
              <a:gd name="adj" fmla="val 55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5989320"/>
            <a:ext cx="1047262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3C5989"/>
                </a:solidFill>
                <a:latin typeface="Microsoft YaHei"/>
              </a:rPr>
              <a:t>还有两件小事也记在这里：B 站风控下匿名只能取到账号最近约 150~400 条投稿；字幕这一档需要 Cookie，所以「字幕原文摘录」现在可能是空的——那是如实标注。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结论均由算法从数据算出 · 数值可用 sqlite3 backend/data/gengv1.db 复核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47472"/>
            <a:ext cx="47548" cy="173736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310896"/>
            <a:ext cx="10929823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FB3A5E"/>
                </a:solidFill>
                <a:latin typeface="Microsoft YaHei"/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76072"/>
            <a:ext cx="1105783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4161F"/>
                </a:solidFill>
                <a:latin typeface="KaiTi"/>
              </a:rPr>
              <a:t>如果继续做，我会按这个顺序补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5214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B7C9C"/>
                </a:solidFill>
                <a:latin typeface="Microsoft YaHei"/>
              </a:rPr>
              <a:t>顺序不是随意的：先补「能不能信」，再补「准不准」，最后才扩范围。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2634157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463040"/>
            <a:ext cx="2634157" cy="68580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00784"/>
            <a:ext cx="219524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FB3A5E"/>
                </a:solidFill>
                <a:latin typeface="Microsoft YaHei"/>
              </a:rPr>
              <a:t>补可信度</a:t>
            </a:r>
          </a:p>
          <a:p>
            <a:pPr algn="l">
              <a:lnSpc>
                <a:spcPct val="126000"/>
              </a:lnSpc>
              <a:spcBef>
                <a:spcPts val="9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把第 4 条口径偏差的替代量（search_total）跑一遍对照，看排名会怎么变</a:t>
            </a:r>
          </a:p>
          <a:p>
            <a:pPr algn="l">
              <a:lnSpc>
                <a:spcPct val="126000"/>
              </a:lnSpc>
              <a:spcBef>
                <a:spcPts val="9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把四块空白实验里的观测覆盖率与快照回填做成常规回归测试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821" y="1463040"/>
            <a:ext cx="2634157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4821" y="1463040"/>
            <a:ext cx="2634157" cy="68580"/>
          </a:xfrm>
          <a:prstGeom prst="rect">
            <a:avLst/>
          </a:prstGeom>
          <a:solidFill>
            <a:srgbClr val="3C5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4277" y="1700784"/>
            <a:ext cx="219524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3C5989"/>
                </a:solidFill>
                <a:latin typeface="Microsoft YaHei"/>
              </a:rPr>
              <a:t>补准确度</a:t>
            </a:r>
          </a:p>
          <a:p>
            <a:pPr algn="l">
              <a:lnSpc>
                <a:spcPct val="126000"/>
              </a:lnSpc>
              <a:spcBef>
                <a:spcPts val="9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阶段判定混淆矩阵 + 权重消融 + 抽样口径敏感性分析</a:t>
            </a:r>
          </a:p>
          <a:p>
            <a:pPr algn="l">
              <a:lnSpc>
                <a:spcPct val="126000"/>
              </a:lnSpc>
              <a:spcBef>
                <a:spcPts val="9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用户实验：20 人对照「看热搜」与「看本系统」的选题表现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2715" y="1463040"/>
            <a:ext cx="2634157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2715" y="1463040"/>
            <a:ext cx="2634157" cy="68580"/>
          </a:xfrm>
          <a:prstGeom prst="rect">
            <a:avLst/>
          </a:prstGeom>
          <a:solidFill>
            <a:srgbClr val="B97B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2171" y="1700784"/>
            <a:ext cx="219524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B97B0A"/>
                </a:solidFill>
                <a:latin typeface="Microsoft YaHei"/>
              </a:rPr>
              <a:t>扩观测面</a:t>
            </a:r>
          </a:p>
          <a:p>
            <a:pPr algn="l">
              <a:lnSpc>
                <a:spcPct val="126000"/>
              </a:lnSpc>
              <a:spcBef>
                <a:spcPts val="9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配 BILI_COOKIE 打通 UP 主空间与字幕轨，把「字幕原文摘录」这一档填满</a:t>
            </a:r>
          </a:p>
          <a:p>
            <a:pPr algn="l">
              <a:lnSpc>
                <a:spcPct val="126000"/>
              </a:lnSpc>
              <a:spcBef>
                <a:spcPts val="9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用 search_total 与互动量构造年龄中性指标，替代累计播放口径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0609" y="1463040"/>
            <a:ext cx="2634157" cy="2377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90609" y="1463040"/>
            <a:ext cx="2634157" cy="68580"/>
          </a:xfrm>
          <a:prstGeom prst="rect">
            <a:avLst/>
          </a:prstGeom>
          <a:solidFill>
            <a:srgbClr val="1F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0065" y="1700784"/>
            <a:ext cx="219524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1F9E6B"/>
                </a:solidFill>
                <a:latin typeface="Microsoft YaHei"/>
              </a:rPr>
              <a:t>扩研究对象</a:t>
            </a:r>
          </a:p>
          <a:p>
            <a:pPr algn="l">
              <a:lnSpc>
                <a:spcPct val="126000"/>
              </a:lnSpc>
              <a:spcBef>
                <a:spcPts val="9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从「梗」扩到「梗的类型」：看动作梗、台词梗、形象梗的衰减曲线是否不同</a:t>
            </a:r>
          </a:p>
          <a:p>
            <a:pPr algn="l">
              <a:lnSpc>
                <a:spcPct val="126000"/>
              </a:lnSpc>
              <a:spcBef>
                <a:spcPts val="900"/>
              </a:spcBef>
            </a:pPr>
            <a:r>
              <a:rPr sz="1000" b="0" i="0">
                <a:solidFill>
                  <a:srgbClr val="6B7C9C"/>
                </a:solidFill>
                <a:latin typeface="Microsoft YaHei"/>
              </a:rPr>
              <a:t>· 在 B 站之外只加一个平台做对照，验证这套口径可迁移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23360"/>
            <a:ext cx="11057839" cy="1572768"/>
          </a:xfrm>
          <a:prstGeom prst="roundRect">
            <a:avLst>
              <a:gd name="adj" fmla="val 5500"/>
            </a:avLst>
          </a:prstGeom>
          <a:solidFill>
            <a:srgbClr val="FF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160520"/>
            <a:ext cx="10472623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4161F"/>
                </a:solidFill>
                <a:latin typeface="Microsoft YaHei"/>
              </a:rPr>
              <a:t>一个我自己最想知道的后续问题：梗的「半衰期」能不能算出来？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 i="0">
                <a:solidFill>
                  <a:srgbClr val="6B7C9C"/>
                </a:solidFill>
                <a:latin typeface="Microsoft YaHei"/>
              </a:rPr>
              <a:t>现在系统只能回答「它处于哪一段」。如果能对每个梗拟合出一条衰减曲线，就能回答「按历史规律，它还剩几天」——但这就落进了预测，而我在本课题一开始就把「不做未来数值预测」写成了边界。要越过这条线，得先补上足够的样本与一套可验证的评估方式；在那之前，我宁可只报现状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91656"/>
            <a:ext cx="1005199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结论均由算法从数据算出 · 数值可用 sqlite3 backend/data/gengv1.db 复核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0367" y="6391656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2000"/>
              </a:lnSpc>
            </a:pPr>
            <a:r>
              <a:rPr sz="950" b="0" i="0">
                <a:solidFill>
                  <a:srgbClr val="A8B2C6"/>
                </a:solidFill>
                <a:latin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B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0350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FB3A5E"/>
                </a:solidFill>
                <a:latin typeface="Microsoft YaHei"/>
              </a:rPr>
              <a:t>收尾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14400"/>
            <a:ext cx="10966399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4161F"/>
                </a:solidFill>
                <a:latin typeface="KaiTi"/>
              </a:rPr>
              <a:t>梗会凉，但这个账算得清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109663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4161F"/>
                </a:solidFill>
                <a:latin typeface="Microsoft YaHei"/>
              </a:rPr>
              <a:t>本课题交出来的不是一个分数，而是一套能被质疑、能被复算的测量方式：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 i="0">
                <a:solidFill>
                  <a:srgbClr val="14161F"/>
                </a:solidFill>
                <a:latin typeface="Microsoft YaHei"/>
              </a:rPr>
              <a:t>口径写在配置文件里，结论由算法算出，证据带真实 BV 号，算不出来的地方就写「数据不足」。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218688"/>
            <a:ext cx="2666161" cy="950976"/>
          </a:xfrm>
          <a:prstGeom prst="roundRect">
            <a:avLst>
              <a:gd name="adj" fmla="val 5500"/>
            </a:avLst>
          </a:prstGeom>
          <a:solidFill>
            <a:srgbClr val="F6F8FB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3346704"/>
            <a:ext cx="222724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90" b="1" i="0">
                <a:solidFill>
                  <a:srgbClr val="FB3A5E"/>
                </a:solidFill>
                <a:latin typeface="Microsoft YaHei"/>
              </a:rPr>
              <a:t>85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010" b="1" i="0">
                <a:solidFill>
                  <a:srgbClr val="14161F"/>
                </a:solidFill>
                <a:latin typeface="Microsoft YaHei"/>
              </a:rPr>
              <a:t>条记录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5113" y="3218688"/>
            <a:ext cx="2666161" cy="950976"/>
          </a:xfrm>
          <a:prstGeom prst="roundRect">
            <a:avLst>
              <a:gd name="adj" fmla="val 5500"/>
            </a:avLst>
          </a:prstGeom>
          <a:solidFill>
            <a:srgbClr val="F6F8FB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4569" y="3346704"/>
            <a:ext cx="222724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90" b="1" i="0">
                <a:solidFill>
                  <a:srgbClr val="FB3A5E"/>
                </a:solidFill>
                <a:latin typeface="Microsoft YaHei"/>
              </a:rPr>
              <a:t>35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010" b="1" i="0">
                <a:solidFill>
                  <a:srgbClr val="14161F"/>
                </a:solidFill>
                <a:latin typeface="Microsoft YaHei"/>
              </a:rPr>
              <a:t>个真实且已核验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1859" y="3218688"/>
            <a:ext cx="2666161" cy="950976"/>
          </a:xfrm>
          <a:prstGeom prst="roundRect">
            <a:avLst>
              <a:gd name="adj" fmla="val 5500"/>
            </a:avLst>
          </a:prstGeom>
          <a:solidFill>
            <a:srgbClr val="F6F8FB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346704"/>
            <a:ext cx="222724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90" b="1" i="0">
                <a:solidFill>
                  <a:srgbClr val="FB3A5E"/>
                </a:solidFill>
                <a:latin typeface="Microsoft YaHei"/>
              </a:rPr>
              <a:t>20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010" b="1" i="0">
                <a:solidFill>
                  <a:srgbClr val="14161F"/>
                </a:solidFill>
                <a:latin typeface="Microsoft YaHei"/>
              </a:rPr>
              <a:t>个上热榜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8605" y="3218688"/>
            <a:ext cx="2666161" cy="950976"/>
          </a:xfrm>
          <a:prstGeom prst="roundRect">
            <a:avLst>
              <a:gd name="adj" fmla="val 5500"/>
            </a:avLst>
          </a:prstGeom>
          <a:solidFill>
            <a:srgbClr val="F6F8FB"/>
          </a:solidFill>
          <a:ln w="12700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78061" y="3346704"/>
            <a:ext cx="222724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290" b="1" i="0">
                <a:solidFill>
                  <a:srgbClr val="FB3A5E"/>
                </a:solidFill>
                <a:latin typeface="Microsoft YaHei"/>
              </a:rPr>
              <a:t>33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010" b="1" i="0">
                <a:solidFill>
                  <a:srgbClr val="14161F"/>
                </a:solidFill>
                <a:latin typeface="Microsoft YaHei"/>
              </a:rPr>
              <a:t>个如实说「数据不足」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407408"/>
            <a:ext cx="1096639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 i="0">
                <a:solidFill>
                  <a:srgbClr val="FB3A5E"/>
                </a:solidFill>
                <a:latin typeface="Microsoft YaHei"/>
              </a:rPr>
              <a:t>请各位老师重点看两处，也欢迎直接拆：</a:t>
            </a:r>
          </a:p>
          <a:p>
            <a:pPr algn="l">
              <a:lnSpc>
                <a:spcPct val="132000"/>
              </a:lnSpc>
              <a:spcBef>
                <a:spcPts val="800"/>
              </a:spcBef>
            </a:pPr>
            <a:r>
              <a:rPr sz="1250" b="0" i="0">
                <a:solidFill>
                  <a:srgbClr val="14161F"/>
                </a:solidFill>
                <a:latin typeface="Microsoft YaHei"/>
              </a:rPr>
              <a:t>① 「数据不足」这个闸门该不该存在——把不知道做成合法输出，是不是一个合格的数据产品该有的态度？</a:t>
            </a:r>
          </a:p>
          <a:p>
            <a:pPr algn="l">
              <a:lnSpc>
                <a:spcPct val="132000"/>
              </a:lnSpc>
              <a:spcBef>
                <a:spcPts val="600"/>
              </a:spcBef>
            </a:pPr>
            <a:r>
              <a:rPr sz="1250" b="0" i="0">
                <a:solidFill>
                  <a:srgbClr val="14161F"/>
                </a:solidFill>
                <a:latin typeface="Microsoft YaHei"/>
              </a:rPr>
              <a:t>② 第 4 条已知未修的口径偏差，我的取舍（先修可信度、暂不动公式）是否合理？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035040"/>
            <a:ext cx="1096639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 i="0">
                <a:solidFill>
                  <a:srgbClr val="6B7C9C"/>
                </a:solidFill>
                <a:latin typeface="Microsoft YaHei"/>
              </a:rPr>
              <a:t>欢迎提问。数据、口径、代码、以及那四块没做完的实验，都可以当场翻。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